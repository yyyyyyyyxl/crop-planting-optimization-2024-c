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presProps.xml" Type="http://schemas.openxmlformats.org/officeDocument/2006/relationships/presProps"/><Relationship Id="rId30" Target="notesSlides/notesSlide10.xml" Type="http://schemas.openxmlformats.org/officeDocument/2006/relationships/notesSlide"/><Relationship Id="rId31" Target="notesSlides/notesSlide11.xml" Type="http://schemas.openxmlformats.org/officeDocument/2006/relationships/notesSlide"/><Relationship Id="rId32" Target="notesSlides/notesSlide12.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汇报我们关于“农作物的种植策略优化”项目的实现过程。这个项目是基于2024年数学建模竞赛C题展开的，我们旨在通过数学建模和优化算法，为未来7年的农作物种植提供科学决策支持。我们将重点介绍如何运用混合整数线性规划（MILP）、鲁棒优化以及不确定性模拟等方法，并最终生成符合要求的Excel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我们来看一下项目的背景。农业生产面临着诸多挑战：土地资源是有限的，不同作物的经济效益千差万别，市场需求也不是无限的，同时还有一系列复杂的农业生产规则需要遵守。因此，我们的研究目标就是，利用数学建模的方法，找到一个最优的种植策略，在未来7年内，既能满足所有约束，又能最大化总利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所有的分析都基于题目提供的三个附件。附件1定义了我们有哪些土地和作物可以选择。附件2提供了2023年的各项基础数据，比如产量、成本和价格，这些是我们模型计算的基石。而附件3则规定了我们最终需要提交的结果格式。理解这三个文件的结构和用途，是我们进行建模的第一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我们整个项目的主流程图。我们从读取原始数据开始，经过清洗和整理，构建模型的决策变量和约束条件，然后定义我们的优化目标，也就是最大化利润。之后调用专业的求解器来找到最优解，最后将结果按照指定格式写入Excel，并生成分析报告。整个流程清晰、严谨，确保了从数据到决策的科学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我们看问题一的建模思路。这是一个典型的确定性优化问题，我们使用混合整数线性规划，也就是MILP来建模。我们定义了两个核心变量：x代表种植面积，z是一个二进制变量，表示是否种植。我们的目标是最大化总利润。特别地，我们考虑了两种不同的销售情景，一种是超出部分全部浪费，另一种是可以半价出售，这两种情况会得到不同的最优种植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模型的灵魂在于约束。我们根据题目描述和农业常识，设计了六大类约束。这包括基本的面积和适种约束，也包括非常细致的季节种植规则，比如不同大棚的种植模式。此外，我们还加入了重茬和豆类轮作的生态约束。为了让结果更具实际操作意义，我们还创新性地引入了最小种植面积和每季作物数量限制，来解决题目中“不宜太分散”的模糊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实世界充满了不确定性。问题二就要求我们考虑这些风险。我们识别了销售量、产量、成本和价格四个方面的未来波动。为了应对这些不确定性，我们采用了“多情景模拟+鲁棒优化”的方法。简单来说，就是先生成大量可能的未来场景，然后在这些场景下寻找一个平均表现最好、或者说最稳健的种植方案，而不是仅仅针对某一个最好或最坏的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问题三是我们模型的进一步深化。我们引入了三个重要的经济学和生态学概念：相关性、替代性和互补性。相关性让我们的情景模拟更真实；替代性考虑了市场竞争，避免了单一作物的过度种植；互补性则体现了豆类轮作的生态价值。通过这三点，我们的模型不再是孤立地看待每一种作物，而是将它们置于一个相互关联的复杂系统中进行优化，从而得到更具现实指导意义的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我们项目的代码结构。我们遵循了清晰的模块化设计，每个问题都有独立的Python脚本负责求解。所有的输入数据、输出结果和模板文件都有明确的目录结构。这种设计不仅让代码易于理解和维护，也方便了团队协作和结果的复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实践中，理论模型和实际代码实现之间总会有差距。我们遇到了求解速度慢、参数设置不生效、Excel写入复杂等问题。特别值得一提的是，我们如何将题目中“不宜太分散”这种模糊描述，转化为具体的“最小种植面积”约束，这是一种重要的工程化思维。对于不确定性问题没有唯一答案的特点，我们通过固定随机种子和统一评估标准，保证了结果的科学性和可重复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最终产出是一系列清晰的结果文件。其中，`result`系列的Excel文件是直接可以提交的答案。而`summary`和`solution_long`文件则提供了更丰富的信息，方便我们进行结果分析、撰写论文和制作图表。这些文件共同构成了一个完整的、可供深入研究的成果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对我们的项目进行总结。我们成功构建了一个从数据到决策的完整优化系统，分三个层次解决了确定性、不确定性和相关性问题，模型的复杂度和现实意义层层递进。展望未来，我们可以引入更多维度的数据，比如气候和市场预测，进一步优化算法，并开发可视化界面，让我们的决策工具变得更加强大和易用。我的汇报到此结束，感谢大家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13" Target="../media/image23.png" Type="http://schemas.openxmlformats.org/officeDocument/2006/relationships/image"/><Relationship Id="rId14" Target="../media/image24.sv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17" Target="../media/image27.png" Type="http://schemas.openxmlformats.org/officeDocument/2006/relationships/image"/><Relationship Id="rId18" Target="../media/image28.svg" Type="http://schemas.openxmlformats.org/officeDocument/2006/relationships/image"/><Relationship Id="rId19" Target="../notesSlides/notesSlide4.xml" Type="http://schemas.openxmlformats.org/officeDocument/2006/relationships/notesSlide"/><Relationship Id="rId2" Target="../media/image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2.svg" Type="http://schemas.openxmlformats.org/officeDocument/2006/relationships/image"/><Relationship Id="rId11" Target="../notesSlides/notesSlide7.xml" Type="http://schemas.openxmlformats.org/officeDocument/2006/relationships/notesSlide"/><Relationship Id="rId2" Target="../media/image2.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3.jpeg" Type="http://schemas.openxmlformats.org/officeDocument/2006/relationships/image"/><Relationship Id="rId3" Target="../notesSlides/notesSlide12.xml" Type="http://schemas.openxmlformats.org/officeDocument/2006/relationships/notesSlide"/><Relationship Id="rId4" Target="../media/image3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gradFill rotWithShape="true">
            <a:gsLst>
              <a:gs pos="0">
                <a:srgbClr val="050F28">
                  <a:alpha val="65000"/>
                </a:srgbClr>
              </a:gs>
              <a:gs pos="100000">
                <a:srgbClr val="001946">
                  <a:alpha val="85000"/>
                </a:srgbClr>
              </a:gs>
            </a:gsLst>
            <a:lin ang="270000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905000"/>
            <a:ext cx="10795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农作物的种植策略优化</a:t>
            </a:r>
            <a:endParaRPr lang="en-US" sz="1100"/>
          </a:p>
        </p:txBody>
      </p:sp>
      <p:sp>
        <p:nvSpPr>
          <p:cNvPr name="AutoShape 4" id="4"/>
          <p:cNvSpPr/>
          <p:nvPr/>
        </p:nvSpPr>
        <p:spPr>
          <a:xfrm rot="0" flipH="false" flipV="false">
            <a:off x="762000" y="32385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400">
                <a:solidFill>
                  <a:srgbClr val="E5E7EB"/>
                </a:solidFill>
                <a:latin typeface="Noto Sans SC"/>
                <a:ea typeface="Noto Sans SC"/>
                <a:cs typeface="Noto Sans SC"/>
                <a:sym typeface="Noto Sans SC"/>
              </a:rPr>
              <a:t>2024 数学建模 C 题项目实现</a:t>
            </a:r>
            <a:endParaRPr lang="en-US" sz="1100"/>
          </a:p>
        </p:txBody>
      </p:sp>
      <p:sp>
        <p:nvSpPr>
          <p:cNvPr name="AutoShape 5" id="5"/>
          <p:cNvSpPr/>
          <p:nvPr/>
        </p:nvSpPr>
        <p:spPr>
          <a:xfrm rot="0" flipH="false" flipV="false">
            <a:off x="762000" y="4318000"/>
            <a:ext cx="2667000" cy="1841500"/>
          </a:xfrm>
          <a:prstGeom prst="roundRect">
            <a:avLst>
              <a:gd name="adj" fmla="val 0"/>
            </a:avLst>
          </a:prstGeom>
          <a:solidFill>
            <a:srgbClr val="0F2355">
              <a:alpha val="82000"/>
            </a:srgbClr>
          </a:solidFill>
          <a:ln w="12700" cmpd="sng" cap="flat">
            <a:solidFill>
              <a:srgbClr val="0052FF">
                <a:alpha val="5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4318000"/>
            <a:ext cx="26670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889000" y="4445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60A5FA"/>
                </a:solidFill>
                <a:latin typeface="Noto Sans SC"/>
                <a:ea typeface="Noto Sans SC"/>
                <a:cs typeface="Noto Sans SC"/>
                <a:sym typeface="Noto Sans SC"/>
              </a:rPr>
              <a:t>MILP 核心建模</a:t>
            </a:r>
            <a:endParaRPr lang="en-US" sz="1100"/>
          </a:p>
        </p:txBody>
      </p:sp>
      <p:sp>
        <p:nvSpPr>
          <p:cNvPr name="AutoShape 8" id="8"/>
          <p:cNvSpPr/>
          <p:nvPr/>
        </p:nvSpPr>
        <p:spPr>
          <a:xfrm rot="0" flipH="false" flipV="false">
            <a:off x="889000" y="4953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构建混合整数线性规划模型，精准刻画土地分配、作物轮作与资源约束的数学关系，确立优化问题的核心求解框架。</a:t>
            </a:r>
            <a:endParaRPr lang="en-US" sz="1100"/>
          </a:p>
        </p:txBody>
      </p:sp>
      <p:sp>
        <p:nvSpPr>
          <p:cNvPr name="AutoShape 9" id="9"/>
          <p:cNvSpPr/>
          <p:nvPr/>
        </p:nvSpPr>
        <p:spPr>
          <a:xfrm rot="0" flipH="false" flipV="false">
            <a:off x="3581400" y="4318000"/>
            <a:ext cx="2667000" cy="1841500"/>
          </a:xfrm>
          <a:prstGeom prst="roundRect">
            <a:avLst>
              <a:gd name="adj" fmla="val 0"/>
            </a:avLst>
          </a:prstGeom>
          <a:solidFill>
            <a:srgbClr val="0F2355">
              <a:alpha val="82000"/>
            </a:srgbClr>
          </a:solidFill>
          <a:ln w="12700" cmpd="sng" cap="flat">
            <a:solidFill>
              <a:srgbClr val="0052FF">
                <a:alpha val="5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81400" y="4318000"/>
            <a:ext cx="26670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708400" y="4445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60A5FA"/>
                </a:solidFill>
                <a:latin typeface="Noto Sans SC"/>
                <a:ea typeface="Noto Sans SC"/>
                <a:cs typeface="Noto Sans SC"/>
                <a:sym typeface="Noto Sans SC"/>
              </a:rPr>
              <a:t>鲁棒优化策略</a:t>
            </a:r>
            <a:endParaRPr lang="en-US" sz="1100"/>
          </a:p>
        </p:txBody>
      </p:sp>
      <p:sp>
        <p:nvSpPr>
          <p:cNvPr name="AutoShape 12" id="12"/>
          <p:cNvSpPr/>
          <p:nvPr/>
        </p:nvSpPr>
        <p:spPr>
          <a:xfrm rot="0" flipH="false" flipV="false">
            <a:off x="3708400" y="4953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引入不确定集处理市场价格波动与气候风险，通过对偶理论转化，在保证解的可行性前提下最大化种植方案的抗风险能力。</a:t>
            </a:r>
            <a:endParaRPr lang="en-US" sz="1100"/>
          </a:p>
        </p:txBody>
      </p:sp>
      <p:sp>
        <p:nvSpPr>
          <p:cNvPr name="AutoShape 13" id="13"/>
          <p:cNvSpPr/>
          <p:nvPr/>
        </p:nvSpPr>
        <p:spPr>
          <a:xfrm rot="0" flipH="false" flipV="false">
            <a:off x="6400800" y="4318000"/>
            <a:ext cx="2667000" cy="1841500"/>
          </a:xfrm>
          <a:prstGeom prst="roundRect">
            <a:avLst>
              <a:gd name="adj" fmla="val 0"/>
            </a:avLst>
          </a:prstGeom>
          <a:solidFill>
            <a:srgbClr val="0F2355">
              <a:alpha val="82000"/>
            </a:srgbClr>
          </a:solidFill>
          <a:ln w="12700" cmpd="sng" cap="flat">
            <a:solidFill>
              <a:srgbClr val="0052FF">
                <a:alpha val="5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00800" y="4318000"/>
            <a:ext cx="26670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527800" y="4445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60A5FA"/>
                </a:solidFill>
                <a:latin typeface="Noto Sans SC"/>
                <a:ea typeface="Noto Sans SC"/>
                <a:cs typeface="Noto Sans SC"/>
                <a:sym typeface="Noto Sans SC"/>
              </a:rPr>
              <a:t>动态场景模拟</a:t>
            </a:r>
            <a:endParaRPr lang="en-US" sz="1100"/>
          </a:p>
        </p:txBody>
      </p:sp>
      <p:sp>
        <p:nvSpPr>
          <p:cNvPr name="AutoShape 16" id="16"/>
          <p:cNvSpPr/>
          <p:nvPr/>
        </p:nvSpPr>
        <p:spPr>
          <a:xfrm rot="0" flipH="false" flipV="false">
            <a:off x="6527800" y="4953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基于历史数据与蒙特卡洛方法生成百级随机样本，模拟不同自然与市场环境下的收益分布，验证模型的长期稳定性。</a:t>
            </a:r>
            <a:endParaRPr lang="en-US" sz="1100"/>
          </a:p>
        </p:txBody>
      </p:sp>
      <p:sp>
        <p:nvSpPr>
          <p:cNvPr name="AutoShape 17" id="17"/>
          <p:cNvSpPr/>
          <p:nvPr/>
        </p:nvSpPr>
        <p:spPr>
          <a:xfrm rot="0" flipH="false" flipV="false">
            <a:off x="9220200" y="4318000"/>
            <a:ext cx="2667000" cy="1841500"/>
          </a:xfrm>
          <a:prstGeom prst="roundRect">
            <a:avLst>
              <a:gd name="adj" fmla="val 0"/>
            </a:avLst>
          </a:prstGeom>
          <a:solidFill>
            <a:srgbClr val="0F2355">
              <a:alpha val="82000"/>
            </a:srgbClr>
          </a:solidFill>
          <a:ln w="12700" cmpd="sng" cap="flat">
            <a:solidFill>
              <a:srgbClr val="0052FF">
                <a:alpha val="5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220200" y="4318000"/>
            <a:ext cx="26670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347200" y="4445000"/>
            <a:ext cx="241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60A5FA"/>
                </a:solidFill>
                <a:latin typeface="Noto Sans SC"/>
                <a:ea typeface="Noto Sans SC"/>
                <a:cs typeface="Noto Sans SC"/>
                <a:sym typeface="Noto Sans SC"/>
              </a:rPr>
              <a:t>结果智能生成</a:t>
            </a:r>
            <a:endParaRPr lang="en-US" sz="1100"/>
          </a:p>
        </p:txBody>
      </p:sp>
      <p:sp>
        <p:nvSpPr>
          <p:cNvPr name="AutoShape 20" id="20"/>
          <p:cNvSpPr/>
          <p:nvPr/>
        </p:nvSpPr>
        <p:spPr>
          <a:xfrm rot="0" flipH="false" flipV="false">
            <a:off x="9347200" y="4953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开发自动化数据接口，将优化计算结果一键转换为符合业务规范的 Excel 报表，包含年度种植计划与敏感性分析数据。</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项目背景与研究目标</a:t>
            </a:r>
            <a:endParaRPr lang="en-US" sz="1100"/>
          </a:p>
        </p:txBody>
      </p:sp>
      <p:sp>
        <p:nvSpPr>
          <p:cNvPr name="AutoShape 4" id="4"/>
          <p:cNvSpPr/>
          <p:nvPr/>
        </p:nvSpPr>
        <p:spPr>
          <a:xfrm rot="0" flipH="false" flipV="false">
            <a:off x="762000" y="1651000"/>
            <a:ext cx="2667000" cy="2159000"/>
          </a:xfrm>
          <a:prstGeom prst="roundRect">
            <a:avLst>
              <a:gd name="adj" fmla="val 0"/>
            </a:avLst>
          </a:prstGeom>
          <a:solidFill>
            <a:srgbClr val="FFFFFF">
              <a:alpha val="88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2667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14400" y="1841500"/>
            <a:ext cx="304800" cy="304800"/>
          </a:xfrm>
          <a:prstGeom prst="rect">
            <a:avLst/>
          </a:prstGeom>
        </p:spPr>
      </p:pic>
      <p:sp>
        <p:nvSpPr>
          <p:cNvPr name="AutoShape 7" id="7"/>
          <p:cNvSpPr/>
          <p:nvPr/>
        </p:nvSpPr>
        <p:spPr>
          <a:xfrm rot="0" flipH="false" flipV="false">
            <a:off x="1333500" y="18161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1E46"/>
                </a:solidFill>
                <a:latin typeface="Noto Sans SC"/>
                <a:ea typeface="Noto Sans SC"/>
                <a:cs typeface="Noto Sans SC"/>
                <a:sym typeface="Noto Sans SC"/>
              </a:rPr>
              <a:t>土地资源有限</a:t>
            </a:r>
            <a:endParaRPr lang="en-US" sz="1100"/>
          </a:p>
        </p:txBody>
      </p:sp>
      <p:sp>
        <p:nvSpPr>
          <p:cNvPr name="AutoShape 8" id="8"/>
          <p:cNvSpPr/>
          <p:nvPr/>
        </p:nvSpPr>
        <p:spPr>
          <a:xfrm rot="0" flipH="false" flipV="false">
            <a:off x="914400" y="2349500"/>
            <a:ext cx="2413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可用地块的数量、类型和面积均为固定值，无法随意扩张。这要求我们必须基于现有土地禀赋进行精细化规划，每一寸土地的用途都需经过科学计算与最优分配。</a:t>
            </a:r>
            <a:endParaRPr lang="en-US" sz="1100"/>
          </a:p>
        </p:txBody>
      </p:sp>
      <p:sp>
        <p:nvSpPr>
          <p:cNvPr name="AutoShape 9" id="9"/>
          <p:cNvSpPr/>
          <p:nvPr/>
        </p:nvSpPr>
        <p:spPr>
          <a:xfrm rot="0" flipH="false" flipV="false">
            <a:off x="3581400" y="1651000"/>
            <a:ext cx="2667000" cy="2159000"/>
          </a:xfrm>
          <a:prstGeom prst="roundRect">
            <a:avLst>
              <a:gd name="adj" fmla="val 0"/>
            </a:avLst>
          </a:prstGeom>
          <a:solidFill>
            <a:srgbClr val="FFFFFF">
              <a:alpha val="88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81400" y="1651000"/>
            <a:ext cx="2667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733800" y="1841500"/>
            <a:ext cx="304800" cy="304800"/>
          </a:xfrm>
          <a:prstGeom prst="rect">
            <a:avLst/>
          </a:prstGeom>
        </p:spPr>
      </p:pic>
      <p:sp>
        <p:nvSpPr>
          <p:cNvPr name="AutoShape 12" id="12"/>
          <p:cNvSpPr/>
          <p:nvPr/>
        </p:nvSpPr>
        <p:spPr>
          <a:xfrm rot="0" flipH="false" flipV="false">
            <a:off x="4152900" y="18161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1E46"/>
                </a:solidFill>
                <a:latin typeface="Noto Sans SC"/>
                <a:ea typeface="Noto Sans SC"/>
                <a:cs typeface="Noto Sans SC"/>
                <a:sym typeface="Noto Sans SC"/>
              </a:rPr>
              <a:t>作物收益差异</a:t>
            </a:r>
            <a:endParaRPr lang="en-US" sz="1100"/>
          </a:p>
        </p:txBody>
      </p:sp>
      <p:sp>
        <p:nvSpPr>
          <p:cNvPr name="AutoShape 13" id="13"/>
          <p:cNvSpPr/>
          <p:nvPr/>
        </p:nvSpPr>
        <p:spPr>
          <a:xfrm rot="0" flipH="false" flipV="false">
            <a:off x="3733800" y="2349500"/>
            <a:ext cx="2413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不同作物在产量潜力、农资成本投入以及终端市场售价上存在显著差异。这种单位面积利润的不均衡性是我们进行方案优化的核心动力，直接决定了最终的经济效益。</a:t>
            </a:r>
            <a:endParaRPr lang="en-US" sz="1100"/>
          </a:p>
        </p:txBody>
      </p:sp>
      <p:sp>
        <p:nvSpPr>
          <p:cNvPr name="AutoShape 14" id="14"/>
          <p:cNvSpPr/>
          <p:nvPr/>
        </p:nvSpPr>
        <p:spPr>
          <a:xfrm rot="0" flipH="false" flipV="false">
            <a:off x="6400800" y="1651000"/>
            <a:ext cx="2667000" cy="2159000"/>
          </a:xfrm>
          <a:prstGeom prst="roundRect">
            <a:avLst>
              <a:gd name="adj" fmla="val 0"/>
            </a:avLst>
          </a:prstGeom>
          <a:solidFill>
            <a:srgbClr val="FFFFFF">
              <a:alpha val="88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00800" y="1651000"/>
            <a:ext cx="2667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53200" y="1841500"/>
            <a:ext cx="304800" cy="304800"/>
          </a:xfrm>
          <a:prstGeom prst="rect">
            <a:avLst/>
          </a:prstGeom>
        </p:spPr>
      </p:pic>
      <p:sp>
        <p:nvSpPr>
          <p:cNvPr name="AutoShape 17" id="17"/>
          <p:cNvSpPr/>
          <p:nvPr/>
        </p:nvSpPr>
        <p:spPr>
          <a:xfrm rot="0" flipH="false" flipV="false">
            <a:off x="6972300" y="18161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1E46"/>
                </a:solidFill>
                <a:latin typeface="Noto Sans SC"/>
                <a:ea typeface="Noto Sans SC"/>
                <a:cs typeface="Noto Sans SC"/>
                <a:sym typeface="Noto Sans SC"/>
              </a:rPr>
              <a:t>市场需求约束</a:t>
            </a:r>
            <a:endParaRPr lang="en-US" sz="1100"/>
          </a:p>
        </p:txBody>
      </p:sp>
      <p:sp>
        <p:nvSpPr>
          <p:cNvPr name="AutoShape 18" id="18"/>
          <p:cNvSpPr/>
          <p:nvPr/>
        </p:nvSpPr>
        <p:spPr>
          <a:xfrm rot="0" flipH="false" flipV="false">
            <a:off x="6553200" y="2349500"/>
            <a:ext cx="2413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每种作物的市场消化能力存在上限，超出预期销售量的部分将面临滞销或被迫折价销售的风险。因此，种植规模必须与市场实际需求严格匹配，避免资源浪费。</a:t>
            </a:r>
            <a:endParaRPr lang="en-US" sz="1100"/>
          </a:p>
        </p:txBody>
      </p:sp>
      <p:sp>
        <p:nvSpPr>
          <p:cNvPr name="AutoShape 19" id="19"/>
          <p:cNvSpPr/>
          <p:nvPr/>
        </p:nvSpPr>
        <p:spPr>
          <a:xfrm rot="0" flipH="false" flipV="false">
            <a:off x="9220200" y="1651000"/>
            <a:ext cx="2667000" cy="2159000"/>
          </a:xfrm>
          <a:prstGeom prst="roundRect">
            <a:avLst>
              <a:gd name="adj" fmla="val 0"/>
            </a:avLst>
          </a:prstGeom>
          <a:solidFill>
            <a:srgbClr val="FFFFFF">
              <a:alpha val="88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220200" y="1651000"/>
            <a:ext cx="26670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372600" y="1841500"/>
            <a:ext cx="304800" cy="304800"/>
          </a:xfrm>
          <a:prstGeom prst="rect">
            <a:avLst/>
          </a:prstGeom>
        </p:spPr>
      </p:pic>
      <p:sp>
        <p:nvSpPr>
          <p:cNvPr name="AutoShape 22" id="22"/>
          <p:cNvSpPr/>
          <p:nvPr/>
        </p:nvSpPr>
        <p:spPr>
          <a:xfrm rot="0" flipH="false" flipV="false">
            <a:off x="9791700" y="18161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A1E46"/>
                </a:solidFill>
                <a:latin typeface="Noto Sans SC"/>
                <a:ea typeface="Noto Sans SC"/>
                <a:cs typeface="Noto Sans SC"/>
                <a:sym typeface="Noto Sans SC"/>
              </a:rPr>
              <a:t>农业生产规则</a:t>
            </a:r>
            <a:endParaRPr lang="en-US" sz="1100"/>
          </a:p>
        </p:txBody>
      </p:sp>
      <p:sp>
        <p:nvSpPr>
          <p:cNvPr name="AutoShape 23" id="23"/>
          <p:cNvSpPr/>
          <p:nvPr/>
        </p:nvSpPr>
        <p:spPr>
          <a:xfrm rot="0" flipH="false" flipV="false">
            <a:off x="9372600" y="2349500"/>
            <a:ext cx="2413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农业生产受自然规律严格制约，如轮作周期、重茬禁忌及季节性种植窗口等。这些不可违背的硬性规则增加了种植方案的排期难度与组合复杂性，是模型构建的重要边界条件。</a:t>
            </a:r>
            <a:endParaRPr lang="en-US" sz="1100"/>
          </a:p>
        </p:txBody>
      </p:sp>
      <p:sp>
        <p:nvSpPr>
          <p:cNvPr name="AutoShape 24" id="24"/>
          <p:cNvSpPr/>
          <p:nvPr/>
        </p:nvSpPr>
        <p:spPr>
          <a:xfrm rot="0" flipH="false" flipV="false">
            <a:off x="762000" y="4127500"/>
            <a:ext cx="11125200" cy="2222500"/>
          </a:xfrm>
          <a:prstGeom prst="roundRect">
            <a:avLst>
              <a:gd name="adj" fmla="val 0"/>
            </a:avLst>
          </a:prstGeom>
          <a:solidFill>
            <a:srgbClr val="0A193C">
              <a:alpha val="78000"/>
            </a:srgbClr>
          </a:solidFill>
          <a:ln w="12700" cmpd="sng" cap="flat">
            <a:solidFill>
              <a:srgbClr val="0052FF">
                <a:alpha val="4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4127500"/>
            <a:ext cx="76200" cy="2222500"/>
          </a:xfrm>
          <a:prstGeom prst="roundRect">
            <a:avLst>
              <a:gd name="adj" fmla="val 0"/>
            </a:avLst>
          </a:prstGeom>
          <a:solidFill>
            <a:srgbClr val="00B8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79500" y="4292600"/>
            <a:ext cx="355600" cy="355600"/>
          </a:xfrm>
          <a:prstGeom prst="rect">
            <a:avLst/>
          </a:prstGeom>
        </p:spPr>
      </p:pic>
      <p:sp>
        <p:nvSpPr>
          <p:cNvPr name="AutoShape 27" id="27"/>
          <p:cNvSpPr/>
          <p:nvPr/>
        </p:nvSpPr>
        <p:spPr>
          <a:xfrm rot="0" flipH="false" flipV="false">
            <a:off x="1587500" y="4279900"/>
            <a:ext cx="889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核心研究目标：7年动态种植策略优化</a:t>
            </a:r>
            <a:endParaRPr lang="en-US" sz="1100"/>
          </a:p>
        </p:txBody>
      </p:sp>
      <p:cxnSp>
        <p:nvCxnSpPr>
          <p:cNvPr name="Connector 28" id="28"/>
          <p:cNvCxnSpPr/>
          <p:nvPr/>
        </p:nvCxnSpPr>
        <p:spPr>
          <a:xfrm rot="-4218" flipH="false" flipV="false">
            <a:off x="1079504" y="4883150"/>
            <a:ext cx="10350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9" id="29"/>
          <p:cNvSpPr/>
          <p:nvPr/>
        </p:nvSpPr>
        <p:spPr>
          <a:xfrm rot="0" flipH="false" flipV="false">
            <a:off x="1079500" y="5016500"/>
            <a:ext cx="10414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E5EBF5"/>
                </a:solidFill>
                <a:latin typeface="Noto Sans SC"/>
                <a:ea typeface="Noto Sans SC"/>
                <a:cs typeface="Noto Sans SC"/>
                <a:sym typeface="Noto Sans SC"/>
              </a:rPr>
              <a:t>基于历史生产数据与市场预测，构建多目标数学优化模型，制定2024-2030年全周期农作物种植方案。在严格满足土地承载力、生态轮作、市场容量等多重约束条件下，通过动态调整年度作物组合与种植面积，实现7年经营周期内的总利润最大化。同时，引入风险量化模块，充分考量未来市场价格波动与自然气候的不确定性，为农业经营主体提供兼具经济效益与抗风险能力的科学决策依据。</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数据来源与数据结构</a:t>
            </a:r>
            <a:endParaRPr lang="en-US" sz="1100"/>
          </a:p>
        </p:txBody>
      </p:sp>
      <p:sp>
        <p:nvSpPr>
          <p:cNvPr name="AutoShape 4" id="4"/>
          <p:cNvSpPr/>
          <p:nvPr/>
        </p:nvSpPr>
        <p:spPr>
          <a:xfrm rot="0" flipH="false" flipV="false">
            <a:off x="762000" y="1651000"/>
            <a:ext cx="3505200" cy="3238500"/>
          </a:xfrm>
          <a:prstGeom prst="roundRect">
            <a:avLst>
              <a:gd name="adj" fmla="val 0"/>
            </a:avLst>
          </a:prstGeom>
          <a:solidFill>
            <a:srgbClr val="FFFFFF">
              <a:alpha val="92000"/>
            </a:srgbClr>
          </a:solidFill>
          <a:ln w="12700" cmpd="sng" cap="flat">
            <a:solidFill>
              <a:srgbClr val="0052FF">
                <a:alpha val="35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5052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841500"/>
            <a:ext cx="31242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附件1.xlsx · 基础资源库</a:t>
            </a:r>
            <a:endParaRPr lang="en-US" sz="1100"/>
          </a:p>
        </p:txBody>
      </p:sp>
      <p:sp>
        <p:nvSpPr>
          <p:cNvPr name="AutoShape 7" id="7"/>
          <p:cNvSpPr/>
          <p:nvPr/>
        </p:nvSpPr>
        <p:spPr>
          <a:xfrm rot="0" flipH="false" flipV="false">
            <a:off x="952500" y="2413000"/>
            <a:ext cx="3124200" cy="12700"/>
          </a:xfrm>
          <a:prstGeom prst="roundRect">
            <a:avLst>
              <a:gd name="adj" fmla="val 0"/>
            </a:avLst>
          </a:prstGeom>
          <a:solidFill>
            <a:srgbClr val="0052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2565400"/>
            <a:ext cx="3124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F2329"/>
                </a:solidFill>
                <a:latin typeface="Noto Sans SC"/>
                <a:ea typeface="Noto Sans SC"/>
                <a:cs typeface="Noto Sans SC"/>
                <a:sym typeface="Noto Sans SC"/>
              </a:rPr>
              <a:t>核心内容：土地与作物基础档案</a:t>
            </a:r>
            <a:endParaRPr lang="en-US" sz="1100"/>
          </a:p>
        </p:txBody>
      </p:sp>
      <p:sp>
        <p:nvSpPr>
          <p:cNvPr name="AutoShape 9" id="9"/>
          <p:cNvSpPr/>
          <p:nvPr/>
        </p:nvSpPr>
        <p:spPr>
          <a:xfrm rot="0" flipH="false" flipV="false">
            <a:off x="952500" y="2984500"/>
            <a:ext cx="31242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涵盖地块唯一标识(ID)、地理类型、有效种植面积等物理属性；同时包含可种植作物的名录、作物生物学类型等关键特征信息。</a:t>
            </a:r>
            <a:endParaRPr lang="en-US" sz="1100"/>
          </a:p>
        </p:txBody>
      </p:sp>
      <p:sp>
        <p:nvSpPr>
          <p:cNvPr name="AutoShape 10" id="10"/>
          <p:cNvSpPr/>
          <p:nvPr/>
        </p:nvSpPr>
        <p:spPr>
          <a:xfrm rot="0" flipH="false" flipV="false">
            <a:off x="952500" y="4064000"/>
            <a:ext cx="3124200" cy="7620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41400" y="4127500"/>
            <a:ext cx="29464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003C96"/>
                </a:solidFill>
                <a:latin typeface="Noto Sans SC"/>
                <a:ea typeface="Noto Sans SC"/>
                <a:cs typeface="Noto Sans SC"/>
                <a:sym typeface="Noto Sans SC"/>
              </a:rPr>
              <a:t>建模作用：</a:t>
            </a:r>
            <a:r>
              <a:rPr lang="en-US" b="false" i="false" strike="noStrike" u="none" sz="1200">
                <a:solidFill>
                  <a:srgbClr val="003C96">
                    <a:alpha val="90196"/>
                  </a:srgbClr>
                </a:solidFill>
                <a:latin typeface="Noto Sans SC"/>
                <a:ea typeface="Noto Sans SC"/>
                <a:cs typeface="Noto Sans SC"/>
                <a:sym typeface="Noto Sans SC"/>
              </a:rPr>
              <a:t>定义模型的初始决策空间，设定土地利用的硬性约束条件。</a:t>
            </a:r>
            <a:endParaRPr lang="en-US" sz="1100"/>
          </a:p>
        </p:txBody>
      </p:sp>
      <p:sp>
        <p:nvSpPr>
          <p:cNvPr name="AutoShape 12" id="12"/>
          <p:cNvSpPr/>
          <p:nvPr/>
        </p:nvSpPr>
        <p:spPr>
          <a:xfrm rot="0" flipH="false" flipV="false">
            <a:off x="4394200" y="1651000"/>
            <a:ext cx="3505200" cy="3238500"/>
          </a:xfrm>
          <a:prstGeom prst="roundRect">
            <a:avLst>
              <a:gd name="adj" fmla="val 0"/>
            </a:avLst>
          </a:prstGeom>
          <a:solidFill>
            <a:srgbClr val="FFFFFF">
              <a:alpha val="92000"/>
            </a:srgbClr>
          </a:solidFill>
          <a:ln w="12700" cmpd="sng" cap="flat">
            <a:solidFill>
              <a:srgbClr val="0052FF">
                <a:alpha val="35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394200" y="1651000"/>
            <a:ext cx="35052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584700" y="1841500"/>
            <a:ext cx="31242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附件2.xlsx · 经济参数集</a:t>
            </a:r>
            <a:endParaRPr lang="en-US" sz="1100"/>
          </a:p>
        </p:txBody>
      </p:sp>
      <p:sp>
        <p:nvSpPr>
          <p:cNvPr name="AutoShape 15" id="15"/>
          <p:cNvSpPr/>
          <p:nvPr/>
        </p:nvSpPr>
        <p:spPr>
          <a:xfrm rot="0" flipH="false" flipV="false">
            <a:off x="4584700" y="2413000"/>
            <a:ext cx="3124200" cy="12700"/>
          </a:xfrm>
          <a:prstGeom prst="roundRect">
            <a:avLst>
              <a:gd name="adj" fmla="val 0"/>
            </a:avLst>
          </a:prstGeom>
          <a:solidFill>
            <a:srgbClr val="0052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584700" y="2565400"/>
            <a:ext cx="3124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F2329"/>
                </a:solidFill>
                <a:latin typeface="Noto Sans SC"/>
                <a:ea typeface="Noto Sans SC"/>
                <a:cs typeface="Noto Sans SC"/>
                <a:sym typeface="Noto Sans SC"/>
              </a:rPr>
              <a:t>核心内容：生产与市场量化指标</a:t>
            </a:r>
            <a:endParaRPr lang="en-US" sz="1100"/>
          </a:p>
        </p:txBody>
      </p:sp>
      <p:sp>
        <p:nvSpPr>
          <p:cNvPr name="AutoShape 17" id="17"/>
          <p:cNvSpPr/>
          <p:nvPr/>
        </p:nvSpPr>
        <p:spPr>
          <a:xfrm rot="0" flipH="false" flipV="false">
            <a:off x="4584700" y="2984500"/>
            <a:ext cx="31242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包含2023年实际种植情况、不同作物单产潜力、全流程种植成本、市场终端销售单价以及市场预期的产品销售量上限。</a:t>
            </a:r>
            <a:endParaRPr lang="en-US" sz="1100"/>
          </a:p>
        </p:txBody>
      </p:sp>
      <p:sp>
        <p:nvSpPr>
          <p:cNvPr name="AutoShape 18" id="18"/>
          <p:cNvSpPr/>
          <p:nvPr/>
        </p:nvSpPr>
        <p:spPr>
          <a:xfrm rot="0" flipH="false" flipV="false">
            <a:off x="4584700" y="4064000"/>
            <a:ext cx="3124200" cy="7620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673600" y="4127500"/>
            <a:ext cx="29464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003C96"/>
                </a:solidFill>
                <a:latin typeface="Noto Sans SC"/>
                <a:ea typeface="Noto Sans SC"/>
                <a:cs typeface="Noto Sans SC"/>
                <a:sym typeface="Noto Sans SC"/>
              </a:rPr>
              <a:t>建模作用：</a:t>
            </a:r>
            <a:r>
              <a:rPr lang="en-US" b="false" i="false" strike="noStrike" u="none" sz="1200">
                <a:solidFill>
                  <a:srgbClr val="003C96">
                    <a:alpha val="90196"/>
                  </a:srgbClr>
                </a:solidFill>
                <a:latin typeface="Noto Sans SC"/>
                <a:ea typeface="Noto Sans SC"/>
                <a:cs typeface="Noto Sans SC"/>
                <a:sym typeface="Noto Sans SC"/>
              </a:rPr>
              <a:t>构建目标函数的核心输入，提供利润计算与成本分析的数据支撑。</a:t>
            </a:r>
            <a:endParaRPr lang="en-US" sz="1100"/>
          </a:p>
        </p:txBody>
      </p:sp>
      <p:sp>
        <p:nvSpPr>
          <p:cNvPr name="AutoShape 20" id="20"/>
          <p:cNvSpPr/>
          <p:nvPr/>
        </p:nvSpPr>
        <p:spPr>
          <a:xfrm rot="0" flipH="false" flipV="false">
            <a:off x="8026400" y="1651000"/>
            <a:ext cx="3505200" cy="3238500"/>
          </a:xfrm>
          <a:prstGeom prst="roundRect">
            <a:avLst>
              <a:gd name="adj" fmla="val 0"/>
            </a:avLst>
          </a:prstGeom>
          <a:solidFill>
            <a:srgbClr val="FFFFFF">
              <a:alpha val="92000"/>
            </a:srgbClr>
          </a:solidFill>
          <a:ln w="12700" cmpd="sng" cap="flat">
            <a:solidFill>
              <a:srgbClr val="0052FF">
                <a:alpha val="3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026400" y="1651000"/>
            <a:ext cx="35052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216900" y="1841500"/>
            <a:ext cx="31242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附件3 · 结果交付规范</a:t>
            </a:r>
            <a:endParaRPr lang="en-US" sz="1100"/>
          </a:p>
        </p:txBody>
      </p:sp>
      <p:sp>
        <p:nvSpPr>
          <p:cNvPr name="AutoShape 23" id="23"/>
          <p:cNvSpPr/>
          <p:nvPr/>
        </p:nvSpPr>
        <p:spPr>
          <a:xfrm rot="0" flipH="false" flipV="false">
            <a:off x="8216900" y="2413000"/>
            <a:ext cx="3124200" cy="12700"/>
          </a:xfrm>
          <a:prstGeom prst="roundRect">
            <a:avLst>
              <a:gd name="adj" fmla="val 0"/>
            </a:avLst>
          </a:prstGeom>
          <a:solidFill>
            <a:srgbClr val="0052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216900" y="2565400"/>
            <a:ext cx="3124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F2329"/>
                </a:solidFill>
                <a:latin typeface="Noto Sans SC"/>
                <a:ea typeface="Noto Sans SC"/>
                <a:cs typeface="Noto Sans SC"/>
                <a:sym typeface="Noto Sans SC"/>
              </a:rPr>
              <a:t>核心内容：标准化输出模板</a:t>
            </a:r>
            <a:endParaRPr lang="en-US" sz="1100"/>
          </a:p>
        </p:txBody>
      </p:sp>
      <p:sp>
        <p:nvSpPr>
          <p:cNvPr name="AutoShape 25" id="25"/>
          <p:cNvSpPr/>
          <p:nvPr/>
        </p:nvSpPr>
        <p:spPr>
          <a:xfrm rot="0" flipH="false" flipV="false">
            <a:off x="8216900" y="2984500"/>
            <a:ext cx="31242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规定了最终方案的呈现形式，包含输出文件的列名定义、数据类型、数值精度要求以及整体文件的存储与命名格式。</a:t>
            </a:r>
            <a:endParaRPr lang="en-US" sz="1100"/>
          </a:p>
        </p:txBody>
      </p:sp>
      <p:sp>
        <p:nvSpPr>
          <p:cNvPr name="AutoShape 26" id="26"/>
          <p:cNvSpPr/>
          <p:nvPr/>
        </p:nvSpPr>
        <p:spPr>
          <a:xfrm rot="0" flipH="false" flipV="false">
            <a:off x="8216900" y="4064000"/>
            <a:ext cx="3124200" cy="7620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305800" y="4127500"/>
            <a:ext cx="29464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003C96"/>
                </a:solidFill>
                <a:latin typeface="Noto Sans SC"/>
                <a:ea typeface="Noto Sans SC"/>
                <a:cs typeface="Noto Sans SC"/>
                <a:sym typeface="Noto Sans SC"/>
              </a:rPr>
              <a:t>建模作用：</a:t>
            </a:r>
            <a:r>
              <a:rPr lang="en-US" b="false" i="false" strike="noStrike" u="none" sz="1200">
                <a:solidFill>
                  <a:srgbClr val="003C96">
                    <a:alpha val="90196"/>
                  </a:srgbClr>
                </a:solidFill>
                <a:latin typeface="Noto Sans SC"/>
                <a:ea typeface="Noto Sans SC"/>
                <a:cs typeface="Noto Sans SC"/>
                <a:sym typeface="Noto Sans SC"/>
              </a:rPr>
              <a:t>定义模型的输出接口，确保算法结果可被系统正确解析与应用。</a:t>
            </a:r>
            <a:endParaRPr lang="en-US" sz="1100"/>
          </a:p>
        </p:txBody>
      </p:sp>
      <p:sp>
        <p:nvSpPr>
          <p:cNvPr name="AutoShape 28" id="28"/>
          <p:cNvSpPr/>
          <p:nvPr/>
        </p:nvSpPr>
        <p:spPr>
          <a:xfrm rot="0" flipH="false" flipV="false">
            <a:off x="762000" y="5080000"/>
            <a:ext cx="10769600" cy="1333500"/>
          </a:xfrm>
          <a:prstGeom prst="roundRect">
            <a:avLst>
              <a:gd name="adj" fmla="val 0"/>
            </a:avLst>
          </a:prstGeom>
          <a:solidFill>
            <a:srgbClr val="002D7D">
              <a:alpha val="7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1016000" y="5181600"/>
            <a:ext cx="152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D700"/>
                </a:solidFill>
                <a:latin typeface="Noto Sans SC"/>
                <a:ea typeface="Noto Sans SC"/>
                <a:cs typeface="Noto Sans SC"/>
                <a:sym typeface="Noto Sans SC"/>
              </a:rPr>
              <a:t>核心价值</a:t>
            </a:r>
            <a:endParaRPr lang="en-US" sz="1100"/>
          </a:p>
        </p:txBody>
      </p:sp>
      <p:sp>
        <p:nvSpPr>
          <p:cNvPr name="AutoShape 30" id="30"/>
          <p:cNvSpPr/>
          <p:nvPr/>
        </p:nvSpPr>
        <p:spPr>
          <a:xfrm rot="0" flipH="false" flipV="false">
            <a:off x="2667000" y="5245100"/>
            <a:ext cx="12700" cy="3048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2857500" y="5181600"/>
            <a:ext cx="838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FFFFFF">
                    <a:alpha val="98039"/>
                  </a:srgbClr>
                </a:solidFill>
                <a:latin typeface="Noto Sans SC"/>
                <a:ea typeface="Noto Sans SC"/>
                <a:cs typeface="Noto Sans SC"/>
                <a:sym typeface="Noto Sans SC"/>
              </a:rPr>
              <a:t>从资源定义到参数量化，再到交付落地的全流程数据基石</a:t>
            </a:r>
            <a:endParaRPr lang="en-US" sz="1100"/>
          </a:p>
        </p:txBody>
      </p:sp>
      <p:sp>
        <p:nvSpPr>
          <p:cNvPr name="AutoShape 32" id="32"/>
          <p:cNvSpPr/>
          <p:nvPr/>
        </p:nvSpPr>
        <p:spPr>
          <a:xfrm rot="0" flipH="false" flipV="false">
            <a:off x="1016000" y="5651500"/>
            <a:ext cx="1028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E2E8F0">
                    <a:alpha val="94902"/>
                  </a:srgbClr>
                </a:solidFill>
                <a:latin typeface="Noto Sans SC"/>
                <a:ea typeface="Noto Sans SC"/>
                <a:cs typeface="Noto Sans SC"/>
                <a:sym typeface="Noto Sans SC"/>
              </a:rPr>
              <a:t>这三份文件共同构成了本数学建模项目的底层逻辑闭环：附件1回答了“有什么资源可用”，附件2解决了“如何量化经济价值”，附件3则明确了“最终成果的形式”。精准理解并合理运用这些结构化数据，是我们后续构建优化模型、进行科学决策并输出有效方案的先决条件。</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项目主流程图</a:t>
            </a:r>
            <a:endParaRPr lang="en-US" sz="1100"/>
          </a:p>
        </p:txBody>
      </p:sp>
      <p:sp>
        <p:nvSpPr>
          <p:cNvPr name="AutoShape 4" id="4"/>
          <p:cNvSpPr/>
          <p:nvPr/>
        </p:nvSpPr>
        <p:spPr>
          <a:xfrm rot="0" flipH="false" flipV="false">
            <a:off x="762000" y="1651000"/>
            <a:ext cx="2603500" cy="1841500"/>
          </a:xfrm>
          <a:prstGeom prst="roundRect">
            <a:avLst>
              <a:gd name="adj" fmla="val 0"/>
            </a:avLst>
          </a:prstGeom>
          <a:solidFill>
            <a:srgbClr val="FFFFFF">
              <a:alpha val="92000"/>
            </a:srgbClr>
          </a:solidFill>
          <a:ln w="12700" cmpd="sng" cap="flat">
            <a:solidFill>
              <a:srgbClr val="0052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2603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14400" y="1803400"/>
            <a:ext cx="304800" cy="304800"/>
          </a:xfrm>
          <a:prstGeom prst="rect">
            <a:avLst/>
          </a:prstGeom>
        </p:spPr>
      </p:pic>
      <p:sp>
        <p:nvSpPr>
          <p:cNvPr name="AutoShape 7" id="7"/>
          <p:cNvSpPr/>
          <p:nvPr/>
        </p:nvSpPr>
        <p:spPr>
          <a:xfrm rot="0" flipH="false" flipV="false">
            <a:off x="1333500" y="17780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数据读取接入</a:t>
            </a:r>
            <a:endParaRPr lang="en-US" sz="1100"/>
          </a:p>
        </p:txBody>
      </p:sp>
      <p:sp>
        <p:nvSpPr>
          <p:cNvPr name="AutoShape 8" id="8"/>
          <p:cNvSpPr/>
          <p:nvPr/>
        </p:nvSpPr>
        <p:spPr>
          <a:xfrm rot="0" flipH="false" flipV="false">
            <a:off x="914400" y="2222500"/>
            <a:ext cx="23114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精准读取附件1、附件2中的原始业务数据，完成多源异构数据的初步加载与汇入。</a:t>
            </a:r>
            <a:endParaRPr lang="en-US" sz="1100"/>
          </a:p>
        </p:txBody>
      </p:sp>
      <p:sp>
        <p:nvSpPr>
          <p:cNvPr name="AutoShape 9" id="9"/>
          <p:cNvSpPr/>
          <p:nvPr/>
        </p:nvSpPr>
        <p:spPr>
          <a:xfrm rot="0" flipH="false" flipV="false">
            <a:off x="914400" y="2921000"/>
            <a:ext cx="2311400" cy="4572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65200" y="2946400"/>
            <a:ext cx="2222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3CB4"/>
                </a:solidFill>
                <a:latin typeface="Noto Sans SC"/>
                <a:ea typeface="Noto Sans SC"/>
                <a:cs typeface="Noto Sans SC"/>
                <a:sym typeface="Noto Sans SC"/>
              </a:rPr>
              <a:t>输入：原始Excel数据源文件</a:t>
            </a:r>
            <a:endParaRPr lang="en-US" sz="1100"/>
          </a:p>
        </p:txBody>
      </p:sp>
      <p:sp>
        <p:nvSpPr>
          <p:cNvPr name="AutoShape 11" id="11"/>
          <p:cNvSpPr/>
          <p:nvPr/>
        </p:nvSpPr>
        <p:spPr>
          <a:xfrm rot="0" flipH="false" flipV="false">
            <a:off x="3492500" y="1651000"/>
            <a:ext cx="2603500" cy="1841500"/>
          </a:xfrm>
          <a:prstGeom prst="roundRect">
            <a:avLst>
              <a:gd name="adj" fmla="val 0"/>
            </a:avLst>
          </a:prstGeom>
          <a:solidFill>
            <a:srgbClr val="FFFFFF">
              <a:alpha val="92000"/>
            </a:srgbClr>
          </a:solidFill>
          <a:ln w="12700" cmpd="sng" cap="flat">
            <a:solidFill>
              <a:srgbClr val="0052FF">
                <a:alpha val="3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492500" y="1651000"/>
            <a:ext cx="2603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44900" y="1803400"/>
            <a:ext cx="304800" cy="304800"/>
          </a:xfrm>
          <a:prstGeom prst="rect">
            <a:avLst/>
          </a:prstGeom>
        </p:spPr>
      </p:pic>
      <p:sp>
        <p:nvSpPr>
          <p:cNvPr name="AutoShape 14" id="14"/>
          <p:cNvSpPr/>
          <p:nvPr/>
        </p:nvSpPr>
        <p:spPr>
          <a:xfrm rot="0" flipH="false" flipV="false">
            <a:off x="4064000" y="17780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数据清洗规整</a:t>
            </a:r>
            <a:endParaRPr lang="en-US" sz="1100"/>
          </a:p>
        </p:txBody>
      </p:sp>
      <p:sp>
        <p:nvSpPr>
          <p:cNvPr name="AutoShape 15" id="15"/>
          <p:cNvSpPr/>
          <p:nvPr/>
        </p:nvSpPr>
        <p:spPr>
          <a:xfrm rot="0" flipH="false" flipV="false">
            <a:off x="3644900" y="2222500"/>
            <a:ext cx="23114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剔除无效异常值，补全缺失关键信息，统一单位与参数格式，形成标准基础数据集。</a:t>
            </a:r>
            <a:endParaRPr lang="en-US" sz="1100"/>
          </a:p>
        </p:txBody>
      </p:sp>
      <p:sp>
        <p:nvSpPr>
          <p:cNvPr name="AutoShape 16" id="16"/>
          <p:cNvSpPr/>
          <p:nvPr/>
        </p:nvSpPr>
        <p:spPr>
          <a:xfrm rot="0" flipH="false" flipV="false">
            <a:off x="3644900" y="2921000"/>
            <a:ext cx="2311400" cy="4572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3695700" y="2946400"/>
            <a:ext cx="2222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3CB4"/>
                </a:solidFill>
                <a:latin typeface="Noto Sans SC"/>
                <a:ea typeface="Noto Sans SC"/>
                <a:cs typeface="Noto Sans SC"/>
                <a:sym typeface="Noto Sans SC"/>
              </a:rPr>
              <a:t>处理：去噪、补全与标准化</a:t>
            </a:r>
            <a:endParaRPr lang="en-US" sz="1100"/>
          </a:p>
        </p:txBody>
      </p:sp>
      <p:sp>
        <p:nvSpPr>
          <p:cNvPr name="AutoShape 18" id="18"/>
          <p:cNvSpPr/>
          <p:nvPr/>
        </p:nvSpPr>
        <p:spPr>
          <a:xfrm rot="0" flipH="false" flipV="false">
            <a:off x="6223000" y="1651000"/>
            <a:ext cx="2603500" cy="1841500"/>
          </a:xfrm>
          <a:prstGeom prst="roundRect">
            <a:avLst>
              <a:gd name="adj" fmla="val 0"/>
            </a:avLst>
          </a:prstGeom>
          <a:solidFill>
            <a:srgbClr val="FFFFFF">
              <a:alpha val="92000"/>
            </a:srgbClr>
          </a:solidFill>
          <a:ln w="12700" cmpd="sng" cap="flat">
            <a:solidFill>
              <a:srgbClr val="0052FF">
                <a:alpha val="3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223000" y="1651000"/>
            <a:ext cx="2603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75400" y="1803400"/>
            <a:ext cx="304800" cy="304800"/>
          </a:xfrm>
          <a:prstGeom prst="rect">
            <a:avLst/>
          </a:prstGeom>
        </p:spPr>
      </p:pic>
      <p:sp>
        <p:nvSpPr>
          <p:cNvPr name="AutoShape 21" id="21"/>
          <p:cNvSpPr/>
          <p:nvPr/>
        </p:nvSpPr>
        <p:spPr>
          <a:xfrm rot="0" flipH="false" flipV="false">
            <a:off x="6794500" y="17780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决策变量建模</a:t>
            </a:r>
            <a:endParaRPr lang="en-US" sz="1100"/>
          </a:p>
        </p:txBody>
      </p:sp>
      <p:sp>
        <p:nvSpPr>
          <p:cNvPr name="AutoShape 22" id="22"/>
          <p:cNvSpPr/>
          <p:nvPr/>
        </p:nvSpPr>
        <p:spPr>
          <a:xfrm rot="0" flipH="false" flipV="false">
            <a:off x="6375400" y="2222500"/>
            <a:ext cx="23114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将业务决策转化为数学语言，构建核心决策变量 x（各作物种植面积）与 z（轮作策略）。</a:t>
            </a:r>
            <a:endParaRPr lang="en-US" sz="1100"/>
          </a:p>
        </p:txBody>
      </p:sp>
      <p:sp>
        <p:nvSpPr>
          <p:cNvPr name="AutoShape 23" id="23"/>
          <p:cNvSpPr/>
          <p:nvPr/>
        </p:nvSpPr>
        <p:spPr>
          <a:xfrm rot="0" flipH="false" flipV="false">
            <a:off x="6375400" y="2921000"/>
            <a:ext cx="2311400" cy="4572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26200" y="2946400"/>
            <a:ext cx="2222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3CB4"/>
                </a:solidFill>
                <a:latin typeface="Noto Sans SC"/>
                <a:ea typeface="Noto Sans SC"/>
                <a:cs typeface="Noto Sans SC"/>
                <a:sym typeface="Noto Sans SC"/>
              </a:rPr>
              <a:t>产出：数学化变量体系定义</a:t>
            </a:r>
            <a:endParaRPr lang="en-US" sz="1100"/>
          </a:p>
        </p:txBody>
      </p:sp>
      <p:sp>
        <p:nvSpPr>
          <p:cNvPr name="AutoShape 25" id="25"/>
          <p:cNvSpPr/>
          <p:nvPr/>
        </p:nvSpPr>
        <p:spPr>
          <a:xfrm rot="0" flipH="false" flipV="false">
            <a:off x="8953500" y="1651000"/>
            <a:ext cx="2603500" cy="1841500"/>
          </a:xfrm>
          <a:prstGeom prst="roundRect">
            <a:avLst>
              <a:gd name="adj" fmla="val 0"/>
            </a:avLst>
          </a:prstGeom>
          <a:solidFill>
            <a:srgbClr val="FFFFFF">
              <a:alpha val="92000"/>
            </a:srgbClr>
          </a:solidFill>
          <a:ln w="12700" cmpd="sng" cap="flat">
            <a:solidFill>
              <a:srgbClr val="0052FF">
                <a:alpha val="3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953500" y="1651000"/>
            <a:ext cx="2603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105900" y="1803400"/>
            <a:ext cx="304800" cy="304800"/>
          </a:xfrm>
          <a:prstGeom prst="rect">
            <a:avLst/>
          </a:prstGeom>
        </p:spPr>
      </p:pic>
      <p:sp>
        <p:nvSpPr>
          <p:cNvPr name="AutoShape 28" id="28"/>
          <p:cNvSpPr/>
          <p:nvPr/>
        </p:nvSpPr>
        <p:spPr>
          <a:xfrm rot="0" flipH="false" flipV="false">
            <a:off x="9525000" y="17780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约束规则构建</a:t>
            </a:r>
            <a:endParaRPr lang="en-US" sz="1100"/>
          </a:p>
        </p:txBody>
      </p:sp>
      <p:sp>
        <p:nvSpPr>
          <p:cNvPr name="AutoShape 29" id="29"/>
          <p:cNvSpPr/>
          <p:nvPr/>
        </p:nvSpPr>
        <p:spPr>
          <a:xfrm rot="0" flipH="false" flipV="false">
            <a:off x="9105900" y="2222500"/>
            <a:ext cx="23114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结合实际生产限制，量化土地资源、作物适种条件及轮作周期的硬性约束条件。</a:t>
            </a:r>
            <a:endParaRPr lang="en-US" sz="1100"/>
          </a:p>
        </p:txBody>
      </p:sp>
      <p:sp>
        <p:nvSpPr>
          <p:cNvPr name="AutoShape 30" id="30"/>
          <p:cNvSpPr/>
          <p:nvPr/>
        </p:nvSpPr>
        <p:spPr>
          <a:xfrm rot="0" flipH="false" flipV="false">
            <a:off x="9105900" y="2921000"/>
            <a:ext cx="2311400" cy="4572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9156700" y="2946400"/>
            <a:ext cx="2222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3CB4"/>
                </a:solidFill>
                <a:latin typeface="Noto Sans SC"/>
                <a:ea typeface="Noto Sans SC"/>
                <a:cs typeface="Noto Sans SC"/>
                <a:sym typeface="Noto Sans SC"/>
              </a:rPr>
              <a:t>规则：面积/生态/轮作限制</a:t>
            </a:r>
            <a:endParaRPr lang="en-US" sz="1100"/>
          </a:p>
        </p:txBody>
      </p:sp>
      <p:sp>
        <p:nvSpPr>
          <p:cNvPr name="AutoShape 32" id="32"/>
          <p:cNvSpPr/>
          <p:nvPr/>
        </p:nvSpPr>
        <p:spPr>
          <a:xfrm rot="0" flipH="false" flipV="false">
            <a:off x="762000" y="3683000"/>
            <a:ext cx="2603500" cy="1841500"/>
          </a:xfrm>
          <a:prstGeom prst="roundRect">
            <a:avLst>
              <a:gd name="adj" fmla="val 0"/>
            </a:avLst>
          </a:prstGeom>
          <a:solidFill>
            <a:srgbClr val="FFFFFF">
              <a:alpha val="92000"/>
            </a:srgbClr>
          </a:solidFill>
          <a:ln w="12700" cmpd="sng" cap="flat">
            <a:solidFill>
              <a:srgbClr val="0052FF">
                <a:alpha val="30000"/>
              </a:srgbClr>
            </a:solid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762000" y="3683000"/>
            <a:ext cx="2603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14400" y="3835400"/>
            <a:ext cx="304800" cy="304800"/>
          </a:xfrm>
          <a:prstGeom prst="rect">
            <a:avLst/>
          </a:prstGeom>
        </p:spPr>
      </p:pic>
      <p:sp>
        <p:nvSpPr>
          <p:cNvPr name="AutoShape 35" id="35"/>
          <p:cNvSpPr/>
          <p:nvPr/>
        </p:nvSpPr>
        <p:spPr>
          <a:xfrm rot="0" flipH="false" flipV="false">
            <a:off x="1333500" y="38100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优化目标定义</a:t>
            </a:r>
            <a:endParaRPr lang="en-US" sz="1100"/>
          </a:p>
        </p:txBody>
      </p:sp>
      <p:sp>
        <p:nvSpPr>
          <p:cNvPr name="AutoShape 36" id="36"/>
          <p:cNvSpPr/>
          <p:nvPr/>
        </p:nvSpPr>
        <p:spPr>
          <a:xfrm rot="0" flipH="false" flipV="false">
            <a:off x="914400" y="4254500"/>
            <a:ext cx="23114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以经济效益为核心导向，构建年度净利润最大化的线性规划目标函数数学模型。</a:t>
            </a:r>
            <a:endParaRPr lang="en-US" sz="1100"/>
          </a:p>
        </p:txBody>
      </p:sp>
      <p:sp>
        <p:nvSpPr>
          <p:cNvPr name="AutoShape 37" id="37"/>
          <p:cNvSpPr/>
          <p:nvPr/>
        </p:nvSpPr>
        <p:spPr>
          <a:xfrm rot="0" flipH="false" flipV="false">
            <a:off x="914400" y="4889500"/>
            <a:ext cx="2311400" cy="4572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965200" y="4914900"/>
            <a:ext cx="2222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3CB4"/>
                </a:solidFill>
                <a:latin typeface="Noto Sans SC"/>
                <a:ea typeface="Noto Sans SC"/>
                <a:cs typeface="Noto Sans SC"/>
                <a:sym typeface="Noto Sans SC"/>
              </a:rPr>
              <a:t>核心：Max(年度净利润)</a:t>
            </a:r>
            <a:endParaRPr lang="en-US" sz="1100"/>
          </a:p>
        </p:txBody>
      </p:sp>
      <p:sp>
        <p:nvSpPr>
          <p:cNvPr name="AutoShape 39" id="39"/>
          <p:cNvSpPr/>
          <p:nvPr/>
        </p:nvSpPr>
        <p:spPr>
          <a:xfrm rot="0" flipH="false" flipV="false">
            <a:off x="3492500" y="3683000"/>
            <a:ext cx="2603500" cy="1841500"/>
          </a:xfrm>
          <a:prstGeom prst="roundRect">
            <a:avLst>
              <a:gd name="adj" fmla="val 0"/>
            </a:avLst>
          </a:prstGeom>
          <a:solidFill>
            <a:srgbClr val="FFFFFF">
              <a:alpha val="92000"/>
            </a:srgbClr>
          </a:solidFill>
          <a:ln w="12700" cmpd="sng" cap="flat">
            <a:solidFill>
              <a:srgbClr val="0052FF">
                <a:alpha val="30000"/>
              </a:srgbClr>
            </a:solid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3492500" y="3683000"/>
            <a:ext cx="2603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1" id="4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3644900" y="3835400"/>
            <a:ext cx="304800" cy="304800"/>
          </a:xfrm>
          <a:prstGeom prst="rect">
            <a:avLst/>
          </a:prstGeom>
        </p:spPr>
      </p:pic>
      <p:sp>
        <p:nvSpPr>
          <p:cNvPr name="AutoShape 42" id="42"/>
          <p:cNvSpPr/>
          <p:nvPr/>
        </p:nvSpPr>
        <p:spPr>
          <a:xfrm rot="0" flipH="false" flipV="false">
            <a:off x="4064000" y="38100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智能算法求解</a:t>
            </a:r>
            <a:endParaRPr lang="en-US" sz="1100"/>
          </a:p>
        </p:txBody>
      </p:sp>
      <p:sp>
        <p:nvSpPr>
          <p:cNvPr name="AutoShape 43" id="43"/>
          <p:cNvSpPr/>
          <p:nvPr/>
        </p:nvSpPr>
        <p:spPr>
          <a:xfrm rot="0" flipH="false" flipV="false">
            <a:off x="3644900" y="4254500"/>
            <a:ext cx="23114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调用 HiGHS / CBC 高性能开源求解器，通过数值迭代算法快速搜索最优可行解。</a:t>
            </a:r>
            <a:endParaRPr lang="en-US" sz="1100"/>
          </a:p>
        </p:txBody>
      </p:sp>
      <p:sp>
        <p:nvSpPr>
          <p:cNvPr name="AutoShape 44" id="44"/>
          <p:cNvSpPr/>
          <p:nvPr/>
        </p:nvSpPr>
        <p:spPr>
          <a:xfrm rot="0" flipH="false" flipV="false">
            <a:off x="3644900" y="4889500"/>
            <a:ext cx="2311400" cy="4572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5" id="45"/>
          <p:cNvSpPr/>
          <p:nvPr/>
        </p:nvSpPr>
        <p:spPr>
          <a:xfrm rot="0" flipH="false" flipV="false">
            <a:off x="3695700" y="4914900"/>
            <a:ext cx="2222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3CB4"/>
                </a:solidFill>
                <a:latin typeface="Noto Sans SC"/>
                <a:ea typeface="Noto Sans SC"/>
                <a:cs typeface="Noto Sans SC"/>
                <a:sym typeface="Noto Sans SC"/>
              </a:rPr>
              <a:t>工具：HiGHS / CBC 求解引擎</a:t>
            </a:r>
            <a:endParaRPr lang="en-US" sz="1100"/>
          </a:p>
        </p:txBody>
      </p:sp>
      <p:sp>
        <p:nvSpPr>
          <p:cNvPr name="AutoShape 46" id="46"/>
          <p:cNvSpPr/>
          <p:nvPr/>
        </p:nvSpPr>
        <p:spPr>
          <a:xfrm rot="0" flipH="false" flipV="false">
            <a:off x="6223000" y="3683000"/>
            <a:ext cx="2603500" cy="1841500"/>
          </a:xfrm>
          <a:prstGeom prst="roundRect">
            <a:avLst>
              <a:gd name="adj" fmla="val 0"/>
            </a:avLst>
          </a:prstGeom>
          <a:solidFill>
            <a:srgbClr val="FFFFFF">
              <a:alpha val="92000"/>
            </a:srgbClr>
          </a:solidFill>
          <a:ln w="12700" cmpd="sng" cap="flat">
            <a:solidFill>
              <a:srgbClr val="0052FF">
                <a:alpha val="30000"/>
              </a:srgbClr>
            </a:solidFill>
            <a:prstDash val="solid"/>
            <a:round/>
          </a:ln>
        </p:spPr>
        <p:txBody>
          <a:bodyPr anchor="ctr" rtlCol="false" vert="horz" wrap="square" lIns="63500" rIns="63500" tIns="63500" bIns="63500"/>
          <a:lstStyle/>
          <a:p>
            <a:pPr algn="ctr">
              <a:defRPr/>
            </a:pPr>
            <a:endParaRPr/>
          </a:p>
        </p:txBody>
      </p:sp>
      <p:sp>
        <p:nvSpPr>
          <p:cNvPr name="AutoShape 47" id="47"/>
          <p:cNvSpPr/>
          <p:nvPr/>
        </p:nvSpPr>
        <p:spPr>
          <a:xfrm rot="0" flipH="false" flipV="false">
            <a:off x="6223000" y="3683000"/>
            <a:ext cx="2603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8" id="48"/>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375400" y="3835400"/>
            <a:ext cx="304800" cy="304800"/>
          </a:xfrm>
          <a:prstGeom prst="rect">
            <a:avLst/>
          </a:prstGeom>
        </p:spPr>
      </p:pic>
      <p:sp>
        <p:nvSpPr>
          <p:cNvPr name="AutoShape 49" id="49"/>
          <p:cNvSpPr/>
          <p:nvPr/>
        </p:nvSpPr>
        <p:spPr>
          <a:xfrm rot="0" flipH="false" flipV="false">
            <a:off x="6794500" y="38100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结果自动落地</a:t>
            </a:r>
            <a:endParaRPr lang="en-US" sz="1100"/>
          </a:p>
        </p:txBody>
      </p:sp>
      <p:sp>
        <p:nvSpPr>
          <p:cNvPr name="AutoShape 50" id="50"/>
          <p:cNvSpPr/>
          <p:nvPr/>
        </p:nvSpPr>
        <p:spPr>
          <a:xfrm rot="0" flipH="false" flipV="false">
            <a:off x="6375400" y="4254500"/>
            <a:ext cx="23114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将求解出的最优决策数据，按照业务规范自动填充并写回至预设的 Excel 标准模板中。</a:t>
            </a:r>
            <a:endParaRPr lang="en-US" sz="1100"/>
          </a:p>
        </p:txBody>
      </p:sp>
      <p:sp>
        <p:nvSpPr>
          <p:cNvPr name="AutoShape 51" id="51"/>
          <p:cNvSpPr/>
          <p:nvPr/>
        </p:nvSpPr>
        <p:spPr>
          <a:xfrm rot="0" flipH="false" flipV="false">
            <a:off x="6375400" y="4889500"/>
            <a:ext cx="2311400" cy="4572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2" id="52"/>
          <p:cNvSpPr/>
          <p:nvPr/>
        </p:nvSpPr>
        <p:spPr>
          <a:xfrm rot="0" flipH="false" flipV="false">
            <a:off x="6426200" y="4914900"/>
            <a:ext cx="2222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3CB4"/>
                </a:solidFill>
                <a:latin typeface="Noto Sans SC"/>
                <a:ea typeface="Noto Sans SC"/>
                <a:cs typeface="Noto Sans SC"/>
                <a:sym typeface="Noto Sans SC"/>
              </a:rPr>
              <a:t>交付：标准结构化Excel报表</a:t>
            </a:r>
            <a:endParaRPr lang="en-US" sz="1100"/>
          </a:p>
        </p:txBody>
      </p:sp>
      <p:sp>
        <p:nvSpPr>
          <p:cNvPr name="AutoShape 53" id="53"/>
          <p:cNvSpPr/>
          <p:nvPr/>
        </p:nvSpPr>
        <p:spPr>
          <a:xfrm rot="0" flipH="false" flipV="false">
            <a:off x="8953500" y="3683000"/>
            <a:ext cx="2603500" cy="1841500"/>
          </a:xfrm>
          <a:prstGeom prst="roundRect">
            <a:avLst>
              <a:gd name="adj" fmla="val 0"/>
            </a:avLst>
          </a:prstGeom>
          <a:solidFill>
            <a:srgbClr val="FFFFFF">
              <a:alpha val="92000"/>
            </a:srgbClr>
          </a:solidFill>
          <a:ln w="12700" cmpd="sng" cap="flat">
            <a:solidFill>
              <a:srgbClr val="0052FF">
                <a:alpha val="30000"/>
              </a:srgbClr>
            </a:solidFill>
            <a:prstDash val="solid"/>
            <a:round/>
          </a:ln>
        </p:spPr>
        <p:txBody>
          <a:bodyPr anchor="ctr" rtlCol="false" vert="horz" wrap="square" lIns="63500" rIns="63500" tIns="63500" bIns="63500"/>
          <a:lstStyle/>
          <a:p>
            <a:pPr algn="ctr">
              <a:defRPr/>
            </a:pPr>
            <a:endParaRPr/>
          </a:p>
        </p:txBody>
      </p:sp>
      <p:sp>
        <p:nvSpPr>
          <p:cNvPr name="AutoShape 54" id="54"/>
          <p:cNvSpPr/>
          <p:nvPr/>
        </p:nvSpPr>
        <p:spPr>
          <a:xfrm rot="0" flipH="false" flipV="false">
            <a:off x="8953500" y="3683000"/>
            <a:ext cx="2603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5" id="55"/>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9105900" y="3835400"/>
            <a:ext cx="304800" cy="304800"/>
          </a:xfrm>
          <a:prstGeom prst="rect">
            <a:avLst/>
          </a:prstGeom>
        </p:spPr>
      </p:pic>
      <p:sp>
        <p:nvSpPr>
          <p:cNvPr name="AutoShape 56" id="56"/>
          <p:cNvSpPr/>
          <p:nvPr/>
        </p:nvSpPr>
        <p:spPr>
          <a:xfrm rot="0" flipH="false" flipV="false">
            <a:off x="9525000" y="38100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决策辅助报告</a:t>
            </a:r>
            <a:endParaRPr lang="en-US" sz="1100"/>
          </a:p>
        </p:txBody>
      </p:sp>
      <p:sp>
        <p:nvSpPr>
          <p:cNvPr name="AutoShape 57" id="57"/>
          <p:cNvSpPr/>
          <p:nvPr/>
        </p:nvSpPr>
        <p:spPr>
          <a:xfrm rot="0" flipH="false" flipV="false">
            <a:off x="9105900" y="4254500"/>
            <a:ext cx="23114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基于计算结果生成可视化摘要，深度剖析方案价值与执行建议，支撑最终业务决策。</a:t>
            </a:r>
            <a:endParaRPr lang="en-US" sz="1100"/>
          </a:p>
        </p:txBody>
      </p:sp>
      <p:sp>
        <p:nvSpPr>
          <p:cNvPr name="AutoShape 58" id="58"/>
          <p:cNvSpPr/>
          <p:nvPr/>
        </p:nvSpPr>
        <p:spPr>
          <a:xfrm rot="0" flipH="false" flipV="false">
            <a:off x="9105900" y="4889500"/>
            <a:ext cx="2311400" cy="457200"/>
          </a:xfrm>
          <a:prstGeom prst="roundRect">
            <a:avLst>
              <a:gd name="adj" fmla="val 0"/>
            </a:avLst>
          </a:prstGeom>
          <a:solidFill>
            <a:srgbClr val="0052FF">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9" id="59"/>
          <p:cNvSpPr/>
          <p:nvPr/>
        </p:nvSpPr>
        <p:spPr>
          <a:xfrm rot="0" flipH="false" flipV="false">
            <a:off x="9156700" y="4914900"/>
            <a:ext cx="2222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3CB4"/>
                </a:solidFill>
                <a:latin typeface="Noto Sans SC"/>
                <a:ea typeface="Noto Sans SC"/>
                <a:cs typeface="Noto Sans SC"/>
                <a:sym typeface="Noto Sans SC"/>
              </a:rPr>
              <a:t>成果：可落地的决策分析书</a:t>
            </a:r>
            <a:endParaRPr lang="en-US" sz="1100"/>
          </a:p>
        </p:txBody>
      </p:sp>
      <p:sp>
        <p:nvSpPr>
          <p:cNvPr name="AutoShape 60" id="60"/>
          <p:cNvSpPr/>
          <p:nvPr/>
        </p:nvSpPr>
        <p:spPr>
          <a:xfrm rot="0" flipH="false" flipV="false">
            <a:off x="762000" y="5651500"/>
            <a:ext cx="10795000" cy="1079500"/>
          </a:xfrm>
          <a:prstGeom prst="roundRect">
            <a:avLst>
              <a:gd name="adj" fmla="val 0"/>
            </a:avLst>
          </a:prstGeom>
          <a:solidFill>
            <a:srgbClr val="0052FF">
              <a:alpha val="9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sp>
        <p:nvSpPr>
          <p:cNvPr name="AutoShape 61" id="61"/>
          <p:cNvSpPr/>
          <p:nvPr/>
        </p:nvSpPr>
        <p:spPr>
          <a:xfrm rot="0" flipH="false" flipV="false">
            <a:off x="952500" y="5740400"/>
            <a:ext cx="10414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1E293B"/>
                </a:solidFill>
                <a:latin typeface="Noto Sans SC"/>
                <a:ea typeface="Noto Sans SC"/>
                <a:cs typeface="Noto Sans SC"/>
                <a:sym typeface="Noto Sans SC"/>
              </a:rPr>
              <a:t>本流程严格遵循“数据输入 → 模型构建 → 算法求解 → 结果应用”的科学闭环范式。通过将复杂的农业种植业务问题转化为可量化、可计算的数学模型，利用专业求解器突破人工计算的局限，最终输出兼具严谨性与实操性的决策方案，为实现资源优化配置与效益最大化提供坚实的量化支撑。</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问题一：确定性 MILP 建模思路</a:t>
            </a:r>
            <a:endParaRPr lang="en-US" sz="1100"/>
          </a:p>
        </p:txBody>
      </p:sp>
      <p:sp>
        <p:nvSpPr>
          <p:cNvPr name="AutoShape 4" id="4"/>
          <p:cNvSpPr/>
          <p:nvPr/>
        </p:nvSpPr>
        <p:spPr>
          <a:xfrm rot="0" flipH="false" flipV="false">
            <a:off x="762000" y="1524000"/>
            <a:ext cx="10668000" cy="952500"/>
          </a:xfrm>
          <a:prstGeom prst="roundRect">
            <a:avLst>
              <a:gd name="adj" fmla="val 0"/>
            </a:avLst>
          </a:prstGeom>
          <a:solidFill>
            <a:srgbClr val="FFFFFF">
              <a:alpha val="90000"/>
            </a:srgbClr>
          </a:solidFill>
          <a:ln w="12700" cmpd="sng" cap="flat">
            <a:solidFill>
              <a:srgbClr val="0052FF">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587500"/>
            <a:ext cx="1028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1F2329"/>
                </a:solidFill>
                <a:latin typeface="Noto Sans SC"/>
                <a:ea typeface="Noto Sans SC"/>
                <a:cs typeface="Noto Sans SC"/>
                <a:sym typeface="Noto Sans SC"/>
              </a:rPr>
              <a:t>问题一假设所有核心运营参数（销量、成本、产量、价格）均固定为2023年实际水平，在无外部波动的确定性环境下，通过构建混合整数线性规划（MILP）模型，求解满足各类资源约束的最优种植与销售方案，为后续复杂场景分析提供基础参照系。</a:t>
            </a:r>
            <a:endParaRPr lang="en-US" sz="1100"/>
          </a:p>
        </p:txBody>
      </p:sp>
      <p:sp>
        <p:nvSpPr>
          <p:cNvPr name="AutoShape 6" id="6"/>
          <p:cNvSpPr/>
          <p:nvPr/>
        </p:nvSpPr>
        <p:spPr>
          <a:xfrm rot="0" flipH="false" flipV="false">
            <a:off x="762000" y="2667000"/>
            <a:ext cx="3467100" cy="2095500"/>
          </a:xfrm>
          <a:prstGeom prst="roundRect">
            <a:avLst>
              <a:gd name="adj" fmla="val 0"/>
            </a:avLst>
          </a:prstGeom>
          <a:solidFill>
            <a:srgbClr val="FFFFFF">
              <a:alpha val="92000"/>
            </a:srgbClr>
          </a:solidFill>
          <a:ln w="12700" cmpd="sng" cap="flat">
            <a:solidFill>
              <a:srgbClr val="0052FF">
                <a:alpha val="35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667000"/>
            <a:ext cx="34671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89000" y="2794000"/>
            <a:ext cx="32131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决策变量体系</a:t>
            </a:r>
            <a:endParaRPr lang="en-US" sz="1100"/>
          </a:p>
        </p:txBody>
      </p:sp>
      <p:sp>
        <p:nvSpPr>
          <p:cNvPr name="AutoShape 9" id="9"/>
          <p:cNvSpPr/>
          <p:nvPr/>
        </p:nvSpPr>
        <p:spPr>
          <a:xfrm rot="0" flipH="false" flipV="false">
            <a:off x="889000" y="3238500"/>
            <a:ext cx="32131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33333"/>
                </a:solidFill>
                <a:latin typeface="Noto Sans SC"/>
                <a:ea typeface="Noto Sans SC"/>
                <a:cs typeface="Noto Sans SC"/>
                <a:sym typeface="Noto Sans SC"/>
              </a:rPr>
              <a:t>定义关键决策维度以量化生产行为：</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333333"/>
                </a:solidFill>
                <a:latin typeface="Noto Sans SC"/>
                <a:ea typeface="Noto Sans SC"/>
                <a:cs typeface="Noto Sans SC"/>
                <a:sym typeface="Noto Sans SC"/>
              </a:rPr>
              <a:t>1. 连续变量 x[y,f,s,c]：表示特定年份、地块、季节下种植作物c的实际面积。</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333333"/>
                </a:solidFill>
                <a:latin typeface="Noto Sans SC"/>
                <a:ea typeface="Noto Sans SC"/>
                <a:cs typeface="Noto Sans SC"/>
                <a:sym typeface="Noto Sans SC"/>
              </a:rPr>
              <a:t>2. 二元变量 z[y,f,s,c]：标记地块是否在对应季节种植该作物，用于触发逻辑约束条件。</a:t>
            </a:r>
            <a:endParaRPr lang="en-US" sz="1100"/>
          </a:p>
        </p:txBody>
      </p:sp>
      <p:sp>
        <p:nvSpPr>
          <p:cNvPr name="AutoShape 10" id="10"/>
          <p:cNvSpPr/>
          <p:nvPr/>
        </p:nvSpPr>
        <p:spPr>
          <a:xfrm rot="0" flipH="false" flipV="false">
            <a:off x="4381500" y="2667000"/>
            <a:ext cx="3467100" cy="2095500"/>
          </a:xfrm>
          <a:prstGeom prst="roundRect">
            <a:avLst>
              <a:gd name="adj" fmla="val 0"/>
            </a:avLst>
          </a:prstGeom>
          <a:solidFill>
            <a:srgbClr val="FFFFFF">
              <a:alpha val="92000"/>
            </a:srgbClr>
          </a:solidFill>
          <a:ln w="12700" cmpd="sng" cap="flat">
            <a:solidFill>
              <a:srgbClr val="0052FF">
                <a:alpha val="35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381500" y="2667000"/>
            <a:ext cx="34671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508500" y="2794000"/>
            <a:ext cx="32131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核心目标函数</a:t>
            </a:r>
            <a:endParaRPr lang="en-US" sz="1100"/>
          </a:p>
        </p:txBody>
      </p:sp>
      <p:sp>
        <p:nvSpPr>
          <p:cNvPr name="AutoShape 13" id="13"/>
          <p:cNvSpPr/>
          <p:nvPr/>
        </p:nvSpPr>
        <p:spPr>
          <a:xfrm rot="0" flipH="false" flipV="false">
            <a:off x="4508500" y="3238500"/>
            <a:ext cx="32131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33333"/>
                </a:solidFill>
                <a:latin typeface="Noto Sans SC"/>
                <a:ea typeface="Noto Sans SC"/>
                <a:cs typeface="Noto Sans SC"/>
                <a:sym typeface="Noto Sans SC"/>
              </a:rPr>
              <a:t>以经济效益最大化为首要优化目标：</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333333"/>
                </a:solidFill>
                <a:latin typeface="Noto Sans SC"/>
                <a:ea typeface="Noto Sans SC"/>
                <a:cs typeface="Noto Sans SC"/>
                <a:sym typeface="Noto Sans SC"/>
              </a:rPr>
              <a:t>目标方程：Max(总利润) = 总销售收入 - 总种植成本。</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333333"/>
                </a:solidFill>
                <a:latin typeface="Noto Sans SC"/>
                <a:ea typeface="Noto Sans SC"/>
                <a:cs typeface="Noto Sans SC"/>
                <a:sym typeface="Noto Sans SC"/>
              </a:rPr>
              <a:t>核心逻辑：在土地、人力等硬性约束下，通过科学分配不同作物的种植资源，实现整体经济收益的全局最优。</a:t>
            </a:r>
            <a:endParaRPr lang="en-US" sz="1100"/>
          </a:p>
        </p:txBody>
      </p:sp>
      <p:sp>
        <p:nvSpPr>
          <p:cNvPr name="AutoShape 14" id="14"/>
          <p:cNvSpPr/>
          <p:nvPr/>
        </p:nvSpPr>
        <p:spPr>
          <a:xfrm rot="0" flipH="false" flipV="false">
            <a:off x="8001000" y="2667000"/>
            <a:ext cx="3467100" cy="2095500"/>
          </a:xfrm>
          <a:prstGeom prst="roundRect">
            <a:avLst>
              <a:gd name="adj" fmla="val 0"/>
            </a:avLst>
          </a:prstGeom>
          <a:solidFill>
            <a:srgbClr val="FFFFFF">
              <a:alpha val="92000"/>
            </a:srgbClr>
          </a:solidFill>
          <a:ln w="12700" cmpd="sng" cap="flat">
            <a:solidFill>
              <a:srgbClr val="0052FF">
                <a:alpha val="3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001000" y="2667000"/>
            <a:ext cx="34671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28000" y="2794000"/>
            <a:ext cx="32131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市场销售边界条件</a:t>
            </a:r>
            <a:endParaRPr lang="en-US" sz="1100"/>
          </a:p>
        </p:txBody>
      </p:sp>
      <p:sp>
        <p:nvSpPr>
          <p:cNvPr name="AutoShape 17" id="17"/>
          <p:cNvSpPr/>
          <p:nvPr/>
        </p:nvSpPr>
        <p:spPr>
          <a:xfrm rot="0" flipH="false" flipV="false">
            <a:off x="8128000" y="3238500"/>
            <a:ext cx="32131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33333"/>
                </a:solidFill>
                <a:latin typeface="Noto Sans SC"/>
                <a:ea typeface="Noto Sans SC"/>
                <a:cs typeface="Noto Sans SC"/>
                <a:sym typeface="Noto Sans SC"/>
              </a:rPr>
              <a:t>针对市场容量设定两种极端情景：</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333333"/>
                </a:solidFill>
                <a:latin typeface="Noto Sans SC"/>
                <a:ea typeface="Noto Sans SC"/>
                <a:cs typeface="Noto Sans SC"/>
                <a:sym typeface="Noto Sans SC"/>
              </a:rPr>
              <a:t>情景一：产能过剩部分完全滞销，无任何残值收入。</a:t>
            </a:r>
            <a:r>
              <a:rPr lang="en-US" b="false" i="false" strike="noStrike" u="none" sz="1200">
                <a:solidFill>
                  <a:srgbClr val="333333"/>
                </a:solidFill>
                <a:latin typeface="Noto Sans SC"/>
                <a:ea typeface="Noto Sans SC"/>
                <a:cs typeface="Noto Sans SC"/>
                <a:sym typeface="Noto Sans SC"/>
              </a:rPr>
              <a:t/>
            </a:r>
            <a:br>
              <a:rPr lang="en-US" b="false" i="false" strike="noStrike" u="none" sz="1200">
                <a:solidFill>
                  <a:srgbClr val="333333"/>
                </a:solidFill>
                <a:latin typeface="Noto Sans SC"/>
                <a:ea typeface="Noto Sans SC"/>
                <a:cs typeface="Noto Sans SC"/>
                <a:sym typeface="Noto Sans SC"/>
              </a:rPr>
            </a:br>
            <a:r>
              <a:rPr lang="en-US" b="false" i="false" strike="noStrike" u="none" sz="1200">
                <a:solidFill>
                  <a:srgbClr val="333333"/>
                </a:solidFill>
                <a:latin typeface="Noto Sans SC"/>
                <a:ea typeface="Noto Sans SC"/>
                <a:cs typeface="Noto Sans SC"/>
                <a:sym typeface="Noto Sans SC"/>
              </a:rPr>
              <a:t>情景二：超出预期销量的产品以正常价格的50%进行折价清仓，在减少浪费的同时回收部分成本。</a:t>
            </a:r>
            <a:endParaRPr lang="en-US" sz="1100"/>
          </a:p>
        </p:txBody>
      </p:sp>
      <p:sp>
        <p:nvSpPr>
          <p:cNvPr name="AutoShape 18" id="18"/>
          <p:cNvSpPr/>
          <p:nvPr/>
        </p:nvSpPr>
        <p:spPr>
          <a:xfrm rot="0" flipH="false" flipV="false">
            <a:off x="762000" y="4953000"/>
            <a:ext cx="10706100" cy="1397000"/>
          </a:xfrm>
          <a:prstGeom prst="roundRect">
            <a:avLst>
              <a:gd name="adj" fmla="val 0"/>
            </a:avLst>
          </a:prstGeom>
          <a:solidFill>
            <a:srgbClr val="0F2D5F">
              <a:alpha val="7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52500" y="5080000"/>
            <a:ext cx="254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模型求解输出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C8E1FF">
                    <a:alpha val="90196"/>
                  </a:srgbClr>
                </a:solidFill>
                <a:latin typeface="Noto Sans SC"/>
                <a:ea typeface="Noto Sans SC"/>
                <a:cs typeface="Noto Sans SC"/>
                <a:sym typeface="Noto Sans SC"/>
              </a:rPr>
              <a:t>基于不同市场规则的</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C8E1FF">
                    <a:alpha val="90196"/>
                  </a:srgbClr>
                </a:solidFill>
                <a:latin typeface="Noto Sans SC"/>
                <a:ea typeface="Noto Sans SC"/>
                <a:cs typeface="Noto Sans SC"/>
                <a:sym typeface="Noto Sans SC"/>
              </a:rPr>
              <a:t>最优解量化方案</a:t>
            </a:r>
          </a:p>
        </p:txBody>
      </p:sp>
      <p:cxnSp>
        <p:nvCxnSpPr>
          <p:cNvPr name="Connector 20" id="20"/>
          <p:cNvCxnSpPr/>
          <p:nvPr/>
        </p:nvCxnSpPr>
        <p:spPr>
          <a:xfrm rot="5357030" flipH="false" flipV="false">
            <a:off x="3175000" y="5645190"/>
            <a:ext cx="1016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21" id="21"/>
          <p:cNvSpPr/>
          <p:nvPr/>
        </p:nvSpPr>
        <p:spPr>
          <a:xfrm rot="0" flipH="false" flipV="false">
            <a:off x="3810000" y="5105400"/>
            <a:ext cx="3492500" cy="1206500"/>
          </a:xfrm>
          <a:prstGeom prst="roundRect">
            <a:avLst>
              <a:gd name="adj" fmla="val 0"/>
            </a:avLst>
          </a:prstGeom>
          <a:solidFill>
            <a:srgbClr val="FFFFFF">
              <a:alpha val="12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3937000" y="5168900"/>
            <a:ext cx="323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64D2FF"/>
                </a:solidFill>
                <a:latin typeface="Noto Sans SC"/>
                <a:ea typeface="Noto Sans SC"/>
                <a:cs typeface="Noto Sans SC"/>
                <a:sym typeface="Noto Sans SC"/>
              </a:rPr>
              <a:t>result1_1.xlsx</a:t>
            </a:r>
            <a:endParaRPr lang="en-US" sz="1100"/>
          </a:p>
        </p:txBody>
      </p:sp>
      <p:sp>
        <p:nvSpPr>
          <p:cNvPr name="AutoShape 23" id="23"/>
          <p:cNvSpPr/>
          <p:nvPr/>
        </p:nvSpPr>
        <p:spPr>
          <a:xfrm rot="0" flipH="false" flipV="false">
            <a:off x="3937000" y="5524500"/>
            <a:ext cx="3238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BF5FF">
                    <a:alpha val="90196"/>
                  </a:srgbClr>
                </a:solidFill>
                <a:latin typeface="Noto Sans SC"/>
                <a:ea typeface="Noto Sans SC"/>
                <a:cs typeface="Noto Sans SC"/>
                <a:sym typeface="Noto Sans SC"/>
              </a:rPr>
              <a:t>情形一的求解结果，详细记录了滞销模式下各作物的最优种植结构，以及对应的单产、总成本与最终净利润数据。</a:t>
            </a:r>
            <a:endParaRPr lang="en-US" sz="1100"/>
          </a:p>
        </p:txBody>
      </p:sp>
      <p:cxnSp>
        <p:nvCxnSpPr>
          <p:cNvPr name="Connector 24" id="24"/>
          <p:cNvCxnSpPr/>
          <p:nvPr/>
        </p:nvCxnSpPr>
        <p:spPr>
          <a:xfrm rot="5357030" flipH="false" flipV="false">
            <a:off x="6921500" y="5645190"/>
            <a:ext cx="1016000" cy="12700"/>
          </a:xfrm>
          <a:prstGeom prst="straightConnector1">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25" id="25"/>
          <p:cNvSpPr/>
          <p:nvPr/>
        </p:nvSpPr>
        <p:spPr>
          <a:xfrm rot="0" flipH="false" flipV="false">
            <a:off x="7556500" y="5105400"/>
            <a:ext cx="3492500" cy="1206500"/>
          </a:xfrm>
          <a:prstGeom prst="roundRect">
            <a:avLst>
              <a:gd name="adj" fmla="val 0"/>
            </a:avLst>
          </a:prstGeom>
          <a:solidFill>
            <a:srgbClr val="FFFFFF">
              <a:alpha val="12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7683500" y="5168900"/>
            <a:ext cx="323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64D2FF"/>
                </a:solidFill>
                <a:latin typeface="Noto Sans SC"/>
                <a:ea typeface="Noto Sans SC"/>
                <a:cs typeface="Noto Sans SC"/>
                <a:sym typeface="Noto Sans SC"/>
              </a:rPr>
              <a:t>result1_2.xlsx</a:t>
            </a:r>
            <a:endParaRPr lang="en-US" sz="1100"/>
          </a:p>
        </p:txBody>
      </p:sp>
      <p:sp>
        <p:nvSpPr>
          <p:cNvPr name="AutoShape 27" id="27"/>
          <p:cNvSpPr/>
          <p:nvPr/>
        </p:nvSpPr>
        <p:spPr>
          <a:xfrm rot="0" flipH="false" flipV="false">
            <a:off x="7683500" y="5524500"/>
            <a:ext cx="3238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BF5FF">
                    <a:alpha val="90196"/>
                  </a:srgbClr>
                </a:solidFill>
                <a:latin typeface="Noto Sans SC"/>
                <a:ea typeface="Noto Sans SC"/>
                <a:cs typeface="Noto Sans SC"/>
                <a:sym typeface="Noto Sans SC"/>
              </a:rPr>
              <a:t>情形二的方案产出，包含折价销售策略下的最优决策建议，对比展示了价格弹性对最终收益及资源配置的影响。</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问题一：复杂的约束设计</a:t>
            </a:r>
            <a:endParaRPr lang="en-US" sz="1100"/>
          </a:p>
        </p:txBody>
      </p:sp>
      <p:sp>
        <p:nvSpPr>
          <p:cNvPr name="AutoShape 4" id="4"/>
          <p:cNvSpPr/>
          <p:nvPr/>
        </p:nvSpPr>
        <p:spPr>
          <a:xfrm rot="0" flipH="false" flipV="false">
            <a:off x="762000" y="1397000"/>
            <a:ext cx="10795000" cy="698500"/>
          </a:xfrm>
          <a:prstGeom prst="roundRect">
            <a:avLst>
              <a:gd name="adj" fmla="val 0"/>
            </a:avLst>
          </a:prstGeom>
          <a:solidFill>
            <a:srgbClr val="FFFFFF">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422400"/>
            <a:ext cx="1041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34155"/>
                </a:solidFill>
                <a:latin typeface="Noto Sans SC"/>
                <a:ea typeface="Noto Sans SC"/>
                <a:cs typeface="Noto Sans SC"/>
                <a:sym typeface="Noto Sans SC"/>
              </a:rPr>
              <a:t>为了贴近真实农业生产场景，我们构建了六大类核心约束条件。这些约束如同数学模型的边界条件，将抽象的优化目标与现实的土地属性、作物习性及生态规则相结合，确保最终生成的种植方案具备技术可行性与落地实操性。</a:t>
            </a:r>
            <a:endParaRPr lang="en-US" sz="1100"/>
          </a:p>
        </p:txBody>
      </p:sp>
      <p:sp>
        <p:nvSpPr>
          <p:cNvPr name="AutoShape 6" id="6"/>
          <p:cNvSpPr/>
          <p:nvPr/>
        </p:nvSpPr>
        <p:spPr>
          <a:xfrm rot="0" flipH="false" flipV="false">
            <a:off x="762000" y="2286000"/>
            <a:ext cx="3467100" cy="1841500"/>
          </a:xfrm>
          <a:prstGeom prst="roundRect">
            <a:avLst>
              <a:gd name="adj" fmla="val 0"/>
            </a:avLst>
          </a:prstGeom>
          <a:solidFill>
            <a:srgbClr val="F5F9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286000"/>
            <a:ext cx="34671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89000" y="2387600"/>
            <a:ext cx="32131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面积约束 · 物理边界</a:t>
            </a:r>
            <a:endParaRPr lang="en-US" sz="1100"/>
          </a:p>
        </p:txBody>
      </p:sp>
      <p:sp>
        <p:nvSpPr>
          <p:cNvPr name="AutoShape 9" id="9"/>
          <p:cNvSpPr/>
          <p:nvPr/>
        </p:nvSpPr>
        <p:spPr>
          <a:xfrm rot="0" flipH="false" flipV="false">
            <a:off x="889000" y="28194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所有规划地块的种植面积之和严格不超过其土地总面积。这是方案设计的基础硬约束，从宏观层面避免资源错配与过度开发，确保土地资源的总量平衡，为后续的作物布局划定了不可逾越的物理范围。</a:t>
            </a:r>
            <a:endParaRPr lang="en-US" sz="1100"/>
          </a:p>
        </p:txBody>
      </p:sp>
      <p:sp>
        <p:nvSpPr>
          <p:cNvPr name="AutoShape 10" id="10"/>
          <p:cNvSpPr/>
          <p:nvPr/>
        </p:nvSpPr>
        <p:spPr>
          <a:xfrm rot="0" flipH="false" flipV="false">
            <a:off x="4394200" y="2286000"/>
            <a:ext cx="3467100" cy="1841500"/>
          </a:xfrm>
          <a:prstGeom prst="roundRect">
            <a:avLst>
              <a:gd name="adj" fmla="val 0"/>
            </a:avLst>
          </a:prstGeom>
          <a:solidFill>
            <a:srgbClr val="F5F9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394200" y="2286000"/>
            <a:ext cx="34671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521200" y="2387600"/>
            <a:ext cx="32131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适种约束 · 因地制宜</a:t>
            </a:r>
            <a:endParaRPr lang="en-US" sz="1100"/>
          </a:p>
        </p:txBody>
      </p:sp>
      <p:sp>
        <p:nvSpPr>
          <p:cNvPr name="AutoShape 13" id="13"/>
          <p:cNvSpPr/>
          <p:nvPr/>
        </p:nvSpPr>
        <p:spPr>
          <a:xfrm rot="0" flipH="false" flipV="false">
            <a:off x="4521200" y="28194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基于地块的自然禀赋（如水浇地、山坡地、旱地等）与作物的生长环境需求，建立严格的匹配规则。不同类型的地块只能种植特定的作物品种，这一约束遵循了农业生产的自然规律，是保障作物生长基础与产量预期的关键前提。</a:t>
            </a:r>
            <a:endParaRPr lang="en-US" sz="1100"/>
          </a:p>
        </p:txBody>
      </p:sp>
      <p:sp>
        <p:nvSpPr>
          <p:cNvPr name="AutoShape 14" id="14"/>
          <p:cNvSpPr/>
          <p:nvPr/>
        </p:nvSpPr>
        <p:spPr>
          <a:xfrm rot="0" flipH="false" flipV="false">
            <a:off x="8026400" y="2286000"/>
            <a:ext cx="3467100" cy="1841500"/>
          </a:xfrm>
          <a:prstGeom prst="roundRect">
            <a:avLst>
              <a:gd name="adj" fmla="val 0"/>
            </a:avLst>
          </a:prstGeom>
          <a:solidFill>
            <a:srgbClr val="F5F9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026400" y="2286000"/>
            <a:ext cx="34671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53400" y="2387600"/>
            <a:ext cx="32131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季节约束 · 周期适配</a:t>
            </a:r>
            <a:endParaRPr lang="en-US" sz="1100"/>
          </a:p>
        </p:txBody>
      </p:sp>
      <p:sp>
        <p:nvSpPr>
          <p:cNvPr name="AutoShape 17" id="17"/>
          <p:cNvSpPr/>
          <p:nvPr/>
        </p:nvSpPr>
        <p:spPr>
          <a:xfrm rot="0" flipH="false" flipV="false">
            <a:off x="8153400" y="28194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针对平旱地、梯田、大棚等不同设施制定差异化的生长周期规则。例如平旱地一年一季，水浇地可稻蔬轮作，智慧大棚则支持多季高效种植。这一动态约束充分利用了光热资源，实现了土地产出的时间维度优化。</a:t>
            </a:r>
            <a:endParaRPr lang="en-US" sz="1100"/>
          </a:p>
        </p:txBody>
      </p:sp>
      <p:sp>
        <p:nvSpPr>
          <p:cNvPr name="AutoShape 18" id="18"/>
          <p:cNvSpPr/>
          <p:nvPr/>
        </p:nvSpPr>
        <p:spPr>
          <a:xfrm rot="0" flipH="false" flipV="false">
            <a:off x="762000" y="4254500"/>
            <a:ext cx="3467100" cy="1841500"/>
          </a:xfrm>
          <a:prstGeom prst="roundRect">
            <a:avLst>
              <a:gd name="adj" fmla="val 0"/>
            </a:avLst>
          </a:prstGeom>
          <a:solidFill>
            <a:srgbClr val="F5F9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 y="4254500"/>
            <a:ext cx="34671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89000" y="4356100"/>
            <a:ext cx="32131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重茬约束 · 生态保护</a:t>
            </a:r>
            <a:endParaRPr lang="en-US" sz="1100"/>
          </a:p>
        </p:txBody>
      </p:sp>
      <p:sp>
        <p:nvSpPr>
          <p:cNvPr name="AutoShape 21" id="21"/>
          <p:cNvSpPr/>
          <p:nvPr/>
        </p:nvSpPr>
        <p:spPr>
          <a:xfrm rot="0" flipH="false" flipV="false">
            <a:off x="889000" y="47879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设定“同地块同季节非连续”规则，同一块地同一季节不能连续两年种植相同作物。这一约束有效规避了土壤养分定向消耗与连作病虫害爆发的风险，是维持土壤健康与农业生产可持续性的重要生态保障机制。</a:t>
            </a:r>
            <a:endParaRPr lang="en-US" sz="1100"/>
          </a:p>
        </p:txBody>
      </p:sp>
      <p:sp>
        <p:nvSpPr>
          <p:cNvPr name="AutoShape 22" id="22"/>
          <p:cNvSpPr/>
          <p:nvPr/>
        </p:nvSpPr>
        <p:spPr>
          <a:xfrm rot="0" flipH="false" flipV="false">
            <a:off x="4394200" y="4254500"/>
            <a:ext cx="3467100" cy="1841500"/>
          </a:xfrm>
          <a:prstGeom prst="roundRect">
            <a:avLst>
              <a:gd name="adj" fmla="val 0"/>
            </a:avLst>
          </a:prstGeom>
          <a:solidFill>
            <a:srgbClr val="F5F9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4394200" y="4254500"/>
            <a:ext cx="34671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4521200" y="4356100"/>
            <a:ext cx="32131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豆类约束 · 地力培肥</a:t>
            </a:r>
            <a:endParaRPr lang="en-US" sz="1100"/>
          </a:p>
        </p:txBody>
      </p:sp>
      <p:sp>
        <p:nvSpPr>
          <p:cNvPr name="AutoShape 25" id="25"/>
          <p:cNvSpPr/>
          <p:nvPr/>
        </p:nvSpPr>
        <p:spPr>
          <a:xfrm rot="0" flipH="false" flipV="false">
            <a:off x="4521200" y="47879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引入三年轮作的硬性指标，要求每块地在三年内至少种植一次豆类作物。利用豆科植物的生物固氮特性，实现对土壤氮素的自然补充，改善土壤团粒结构。这是一种低成本、绿色环保的地力提升策略，助力生态循环农业。</a:t>
            </a:r>
            <a:endParaRPr lang="en-US" sz="1100"/>
          </a:p>
        </p:txBody>
      </p:sp>
      <p:sp>
        <p:nvSpPr>
          <p:cNvPr name="AutoShape 26" id="26"/>
          <p:cNvSpPr/>
          <p:nvPr/>
        </p:nvSpPr>
        <p:spPr>
          <a:xfrm rot="0" flipH="false" flipV="false">
            <a:off x="8026400" y="4254500"/>
            <a:ext cx="3467100" cy="1841500"/>
          </a:xfrm>
          <a:prstGeom prst="roundRect">
            <a:avLst>
              <a:gd name="adj" fmla="val 0"/>
            </a:avLst>
          </a:prstGeom>
          <a:solidFill>
            <a:srgbClr val="F5F9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026400" y="4254500"/>
            <a:ext cx="34671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8153400" y="4356100"/>
            <a:ext cx="32131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碎片化控制 · 效率优化</a:t>
            </a:r>
            <a:endParaRPr lang="en-US" sz="1100"/>
          </a:p>
        </p:txBody>
      </p:sp>
      <p:sp>
        <p:nvSpPr>
          <p:cNvPr name="AutoShape 29" id="29"/>
          <p:cNvSpPr/>
          <p:nvPr/>
        </p:nvSpPr>
        <p:spPr>
          <a:xfrm rot="0" flipH="false" flipV="false">
            <a:off x="8153400" y="47879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为解决“不宜太分散”的实际管理难题，引入最小种植面积阈值和单季作物种类限制。既防止了地块划分过碎导致的机械作业困难，又避免了作物种类过多带来的管理成本激增，实现了规模化与精细化的高效平衡。</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问题二：引入不确定性的鲁棒优化思路</a:t>
            </a:r>
            <a:endParaRPr lang="en-US" sz="1100"/>
          </a:p>
        </p:txBody>
      </p:sp>
      <p:sp>
        <p:nvSpPr>
          <p:cNvPr name="AutoShape 4" id="4"/>
          <p:cNvSpPr/>
          <p:nvPr/>
        </p:nvSpPr>
        <p:spPr>
          <a:xfrm rot="0" flipH="false" flipV="false">
            <a:off x="762000" y="1524000"/>
            <a:ext cx="2603500" cy="1968500"/>
          </a:xfrm>
          <a:prstGeom prst="roundRect">
            <a:avLst>
              <a:gd name="adj" fmla="val 0"/>
            </a:avLst>
          </a:prstGeom>
          <a:solidFill>
            <a:srgbClr val="FFFFFF">
              <a:alpha val="88000"/>
            </a:srgbClr>
          </a:solidFill>
          <a:ln w="12700" cmpd="sng" cap="flat">
            <a:solidFill>
              <a:srgbClr val="0052FF">
                <a:alpha val="18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6035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889000" y="1676400"/>
            <a:ext cx="304800" cy="304800"/>
          </a:xfrm>
          <a:prstGeom prst="rect">
            <a:avLst/>
          </a:prstGeom>
        </p:spPr>
      </p:pic>
      <p:sp>
        <p:nvSpPr>
          <p:cNvPr name="AutoShape 7" id="7"/>
          <p:cNvSpPr/>
          <p:nvPr/>
        </p:nvSpPr>
        <p:spPr>
          <a:xfrm rot="0" flipH="false" flipV="false">
            <a:off x="1295400" y="1663700"/>
            <a:ext cx="1968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销售量波动</a:t>
            </a:r>
            <a:endParaRPr lang="en-US" sz="1100"/>
          </a:p>
        </p:txBody>
      </p:sp>
      <p:sp>
        <p:nvSpPr>
          <p:cNvPr name="AutoShape 8" id="8"/>
          <p:cNvSpPr/>
          <p:nvPr/>
        </p:nvSpPr>
        <p:spPr>
          <a:xfrm rot="0" flipH="false" flipV="false">
            <a:off x="889000" y="21590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核心作物小麦、玉米市场需求稳步上升，年增长率预计在5%-10%区间；其余经济作物受市场供需影响，销售量呈现±5%的双向动态浮动。</a:t>
            </a:r>
            <a:endParaRPr lang="en-US" sz="1100"/>
          </a:p>
        </p:txBody>
      </p:sp>
      <p:sp>
        <p:nvSpPr>
          <p:cNvPr name="AutoShape 9" id="9"/>
          <p:cNvSpPr/>
          <p:nvPr/>
        </p:nvSpPr>
        <p:spPr>
          <a:xfrm rot="0" flipH="false" flipV="false">
            <a:off x="3492500" y="1524000"/>
            <a:ext cx="2603500" cy="1968500"/>
          </a:xfrm>
          <a:prstGeom prst="roundRect">
            <a:avLst>
              <a:gd name="adj" fmla="val 0"/>
            </a:avLst>
          </a:prstGeom>
          <a:solidFill>
            <a:srgbClr val="FFFFFF">
              <a:alpha val="88000"/>
            </a:srgbClr>
          </a:solidFill>
          <a:ln w="12700" cmpd="sng" cap="flat">
            <a:solidFill>
              <a:srgbClr val="0052FF">
                <a:alpha val="18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492500" y="1524000"/>
            <a:ext cx="26035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19500" y="1676400"/>
            <a:ext cx="304800" cy="304800"/>
          </a:xfrm>
          <a:prstGeom prst="rect">
            <a:avLst/>
          </a:prstGeom>
        </p:spPr>
      </p:pic>
      <p:sp>
        <p:nvSpPr>
          <p:cNvPr name="AutoShape 12" id="12"/>
          <p:cNvSpPr/>
          <p:nvPr/>
        </p:nvSpPr>
        <p:spPr>
          <a:xfrm rot="0" flipH="false" flipV="false">
            <a:off x="4025900" y="1663700"/>
            <a:ext cx="1968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亩产量扰动</a:t>
            </a:r>
            <a:endParaRPr lang="en-US" sz="1100"/>
          </a:p>
        </p:txBody>
      </p:sp>
      <p:sp>
        <p:nvSpPr>
          <p:cNvPr name="AutoShape 13" id="13"/>
          <p:cNvSpPr/>
          <p:nvPr/>
        </p:nvSpPr>
        <p:spPr>
          <a:xfrm rot="0" flipH="false" flipV="false">
            <a:off x="3619500" y="21590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受自然气候、土壤肥力及田间管理的随机因素影响，各类农作物亩产量每年存在约±10%的非系统性波动，这是影响最终收益的关键生产端变量。</a:t>
            </a:r>
            <a:endParaRPr lang="en-US" sz="1100"/>
          </a:p>
        </p:txBody>
      </p:sp>
      <p:sp>
        <p:nvSpPr>
          <p:cNvPr name="AutoShape 14" id="14"/>
          <p:cNvSpPr/>
          <p:nvPr/>
        </p:nvSpPr>
        <p:spPr>
          <a:xfrm rot="0" flipH="false" flipV="false">
            <a:off x="6223000" y="1524000"/>
            <a:ext cx="2603500" cy="1968500"/>
          </a:xfrm>
          <a:prstGeom prst="roundRect">
            <a:avLst>
              <a:gd name="adj" fmla="val 0"/>
            </a:avLst>
          </a:prstGeom>
          <a:solidFill>
            <a:srgbClr val="FFFFFF">
              <a:alpha val="88000"/>
            </a:srgbClr>
          </a:solidFill>
          <a:ln w="12700" cmpd="sng" cap="flat">
            <a:solidFill>
              <a:srgbClr val="0052FF">
                <a:alpha val="18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23000" y="1524000"/>
            <a:ext cx="26035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50000" y="1676400"/>
            <a:ext cx="304800" cy="304800"/>
          </a:xfrm>
          <a:prstGeom prst="rect">
            <a:avLst/>
          </a:prstGeom>
        </p:spPr>
      </p:pic>
      <p:sp>
        <p:nvSpPr>
          <p:cNvPr name="AutoShape 17" id="17"/>
          <p:cNvSpPr/>
          <p:nvPr/>
        </p:nvSpPr>
        <p:spPr>
          <a:xfrm rot="0" flipH="false" flipV="false">
            <a:off x="6756400" y="1663700"/>
            <a:ext cx="1968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成本刚性增长</a:t>
            </a:r>
            <a:endParaRPr lang="en-US" sz="1100"/>
          </a:p>
        </p:txBody>
      </p:sp>
      <p:sp>
        <p:nvSpPr>
          <p:cNvPr name="AutoShape 18" id="18"/>
          <p:cNvSpPr/>
          <p:nvPr/>
        </p:nvSpPr>
        <p:spPr>
          <a:xfrm rot="0" flipH="false" flipV="false">
            <a:off x="6350000" y="21590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农业生产资料价格与人工成本逐年攀升，导致综合种植成本呈现不可逆转的上升趋势，平均年增长率稳定在5%左右，直接压缩种植利润空间。</a:t>
            </a:r>
            <a:endParaRPr lang="en-US" sz="1100"/>
          </a:p>
        </p:txBody>
      </p:sp>
      <p:sp>
        <p:nvSpPr>
          <p:cNvPr name="AutoShape 19" id="19"/>
          <p:cNvSpPr/>
          <p:nvPr/>
        </p:nvSpPr>
        <p:spPr>
          <a:xfrm rot="0" flipH="false" flipV="false">
            <a:off x="8953500" y="1524000"/>
            <a:ext cx="2603500" cy="1968500"/>
          </a:xfrm>
          <a:prstGeom prst="roundRect">
            <a:avLst>
              <a:gd name="adj" fmla="val 0"/>
            </a:avLst>
          </a:prstGeom>
          <a:solidFill>
            <a:srgbClr val="FFFFFF">
              <a:alpha val="88000"/>
            </a:srgbClr>
          </a:solidFill>
          <a:ln w="12700" cmpd="sng" cap="flat">
            <a:solidFill>
              <a:srgbClr val="0052FF">
                <a:alpha val="18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953500" y="1524000"/>
            <a:ext cx="26035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080500" y="1676400"/>
            <a:ext cx="304800" cy="304800"/>
          </a:xfrm>
          <a:prstGeom prst="rect">
            <a:avLst/>
          </a:prstGeom>
        </p:spPr>
      </p:pic>
      <p:sp>
        <p:nvSpPr>
          <p:cNvPr name="AutoShape 22" id="22"/>
          <p:cNvSpPr/>
          <p:nvPr/>
        </p:nvSpPr>
        <p:spPr>
          <a:xfrm rot="0" flipH="false" flipV="false">
            <a:off x="9486900" y="1663700"/>
            <a:ext cx="1968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价格分化调整</a:t>
            </a:r>
            <a:endParaRPr lang="en-US" sz="1100"/>
          </a:p>
        </p:txBody>
      </p:sp>
      <p:sp>
        <p:nvSpPr>
          <p:cNvPr name="AutoShape 23" id="23"/>
          <p:cNvSpPr/>
          <p:nvPr/>
        </p:nvSpPr>
        <p:spPr>
          <a:xfrm rot="0" flipH="false" flipV="false">
            <a:off x="9080500" y="21590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主粮价格保持平稳；蔬菜类价格温和上涨约5%；而食用菌与羊肚菌受市场饱和度影响，价格分别呈1%-5%和5%的年降幅，市场竞争格局发生变化。</a:t>
            </a:r>
            <a:endParaRPr lang="en-US" sz="1100"/>
          </a:p>
        </p:txBody>
      </p:sp>
      <p:sp>
        <p:nvSpPr>
          <p:cNvPr name="AutoShape 24" id="24"/>
          <p:cNvSpPr/>
          <p:nvPr/>
        </p:nvSpPr>
        <p:spPr>
          <a:xfrm rot="0" flipH="false" flipV="false">
            <a:off x="762000" y="3683000"/>
            <a:ext cx="10795000" cy="508000"/>
          </a:xfrm>
          <a:prstGeom prst="roundRect">
            <a:avLst>
              <a:gd name="adj" fmla="val 0"/>
            </a:avLst>
          </a:prstGeom>
          <a:solidFill>
            <a:srgbClr val="0052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89000" y="3708400"/>
            <a:ext cx="10541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52FF"/>
                </a:solidFill>
                <a:latin typeface="Noto Sans SC"/>
                <a:ea typeface="Noto Sans SC"/>
                <a:cs typeface="Noto Sans SC"/>
                <a:sym typeface="Noto Sans SC"/>
              </a:rPr>
              <a:t>解决方案：多情景模拟 + 鲁棒优化算法</a:t>
            </a:r>
            <a:endParaRPr lang="en-US" sz="1100"/>
          </a:p>
        </p:txBody>
      </p:sp>
      <p:sp>
        <p:nvSpPr>
          <p:cNvPr name="AutoShape 26" id="26"/>
          <p:cNvSpPr/>
          <p:nvPr/>
        </p:nvSpPr>
        <p:spPr>
          <a:xfrm rot="0" flipH="false" flipV="false">
            <a:off x="762000" y="4445000"/>
            <a:ext cx="1752600" cy="1905000"/>
          </a:xfrm>
          <a:prstGeom prst="roundRect">
            <a:avLst>
              <a:gd name="adj" fmla="val 0"/>
            </a:avLst>
          </a:prstGeom>
          <a:solidFill>
            <a:srgbClr val="EBF5FF">
              <a:alpha val="95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762000" y="4445000"/>
            <a:ext cx="1752600" cy="38100"/>
          </a:xfrm>
          <a:prstGeom prst="roundRect">
            <a:avLst>
              <a:gd name="adj" fmla="val 0"/>
            </a:avLst>
          </a:prstGeom>
          <a:solidFill>
            <a:srgbClr val="0052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825500" y="4597400"/>
            <a:ext cx="1625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0F172A"/>
                </a:solidFill>
                <a:latin typeface="Noto Sans SC"/>
                <a:ea typeface="Noto Sans SC"/>
                <a:cs typeface="Noto Sans SC"/>
                <a:sym typeface="Noto Sans SC"/>
              </a:rPr>
              <a:t>基准数据锚定</a:t>
            </a:r>
            <a:endParaRPr lang="en-US" sz="1100"/>
          </a:p>
        </p:txBody>
      </p:sp>
      <p:sp>
        <p:nvSpPr>
          <p:cNvPr name="AutoShape 29" id="29"/>
          <p:cNvSpPr/>
          <p:nvPr/>
        </p:nvSpPr>
        <p:spPr>
          <a:xfrm rot="0" flipH="false" flipV="false">
            <a:off x="825500" y="5143500"/>
            <a:ext cx="16256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200">
                <a:solidFill>
                  <a:srgbClr val="334155"/>
                </a:solidFill>
                <a:latin typeface="Noto Sans SC"/>
                <a:ea typeface="Noto Sans SC"/>
                <a:cs typeface="Noto Sans SC"/>
                <a:sym typeface="Noto Sans SC"/>
              </a:rPr>
              <a:t>基于2023年历史生产、市场与财务数据，建立模型的确定性基准输入，确保模拟起点真实可靠。</a:t>
            </a:r>
            <a:endParaRPr lang="en-US" sz="1100"/>
          </a:p>
        </p:txBody>
      </p:sp>
      <p:sp>
        <p:nvSpPr>
          <p:cNvPr name="AutoShape 30" id="30"/>
          <p:cNvSpPr/>
          <p:nvPr/>
        </p:nvSpPr>
        <p:spPr>
          <a:xfrm rot="0" flipH="false" flipV="false">
            <a:off x="2667000" y="4445000"/>
            <a:ext cx="1752600" cy="1905000"/>
          </a:xfrm>
          <a:prstGeom prst="roundRect">
            <a:avLst>
              <a:gd name="adj" fmla="val 0"/>
            </a:avLst>
          </a:prstGeom>
          <a:solidFill>
            <a:srgbClr val="EBF5FF">
              <a:alpha val="95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2667000" y="4445000"/>
            <a:ext cx="1752600" cy="38100"/>
          </a:xfrm>
          <a:prstGeom prst="roundRect">
            <a:avLst>
              <a:gd name="adj" fmla="val 0"/>
            </a:avLst>
          </a:prstGeom>
          <a:solidFill>
            <a:srgbClr val="0052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2730500" y="4597400"/>
            <a:ext cx="1625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0F172A"/>
                </a:solidFill>
                <a:latin typeface="Noto Sans SC"/>
                <a:ea typeface="Noto Sans SC"/>
                <a:cs typeface="Noto Sans SC"/>
                <a:sym typeface="Noto Sans SC"/>
              </a:rPr>
              <a:t>多维因子扰动</a:t>
            </a:r>
            <a:endParaRPr lang="en-US" sz="1100"/>
          </a:p>
        </p:txBody>
      </p:sp>
      <p:sp>
        <p:nvSpPr>
          <p:cNvPr name="AutoShape 33" id="33"/>
          <p:cNvSpPr/>
          <p:nvPr/>
        </p:nvSpPr>
        <p:spPr>
          <a:xfrm rot="0" flipH="false" flipV="false">
            <a:off x="2730500" y="5143500"/>
            <a:ext cx="16256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200">
                <a:solidFill>
                  <a:srgbClr val="334155"/>
                </a:solidFill>
                <a:latin typeface="Noto Sans SC"/>
                <a:ea typeface="Noto Sans SC"/>
                <a:cs typeface="Noto Sans SC"/>
                <a:sym typeface="Noto Sans SC"/>
              </a:rPr>
              <a:t>对销量、产量、成本及价格施加符合市场规律的随机扰动，构建贴近真实的动态不确定性环境。</a:t>
            </a:r>
            <a:endParaRPr lang="en-US" sz="1100"/>
          </a:p>
        </p:txBody>
      </p:sp>
      <p:sp>
        <p:nvSpPr>
          <p:cNvPr name="AutoShape 34" id="34"/>
          <p:cNvSpPr/>
          <p:nvPr/>
        </p:nvSpPr>
        <p:spPr>
          <a:xfrm rot="0" flipH="false" flipV="false">
            <a:off x="4572000" y="4445000"/>
            <a:ext cx="1752600" cy="1905000"/>
          </a:xfrm>
          <a:prstGeom prst="roundRect">
            <a:avLst>
              <a:gd name="adj" fmla="val 0"/>
            </a:avLst>
          </a:prstGeom>
          <a:solidFill>
            <a:srgbClr val="EBF5FF">
              <a:alpha val="95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4572000" y="4445000"/>
            <a:ext cx="1752600" cy="38100"/>
          </a:xfrm>
          <a:prstGeom prst="roundRect">
            <a:avLst>
              <a:gd name="adj" fmla="val 0"/>
            </a:avLst>
          </a:prstGeom>
          <a:solidFill>
            <a:srgbClr val="0052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4635500" y="4597400"/>
            <a:ext cx="1625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0F172A"/>
                </a:solidFill>
                <a:latin typeface="Noto Sans SC"/>
                <a:ea typeface="Noto Sans SC"/>
                <a:cs typeface="Noto Sans SC"/>
                <a:sym typeface="Noto Sans SC"/>
              </a:rPr>
              <a:t>海量情景生成</a:t>
            </a:r>
            <a:endParaRPr lang="en-US" sz="1100"/>
          </a:p>
        </p:txBody>
      </p:sp>
      <p:sp>
        <p:nvSpPr>
          <p:cNvPr name="AutoShape 37" id="37"/>
          <p:cNvSpPr/>
          <p:nvPr/>
        </p:nvSpPr>
        <p:spPr>
          <a:xfrm rot="0" flipH="false" flipV="false">
            <a:off x="4635500" y="5143500"/>
            <a:ext cx="16256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200">
                <a:solidFill>
                  <a:srgbClr val="334155"/>
                </a:solidFill>
                <a:latin typeface="Noto Sans SC"/>
                <a:ea typeface="Noto Sans SC"/>
                <a:cs typeface="Noto Sans SC"/>
                <a:sym typeface="Noto Sans SC"/>
              </a:rPr>
              <a:t>运用蒙特卡洛模拟方法，生成数万组覆盖不同风险程度的参数组合，穷尽未来可能的市场状态。</a:t>
            </a:r>
            <a:endParaRPr lang="en-US" sz="1100"/>
          </a:p>
        </p:txBody>
      </p:sp>
      <p:sp>
        <p:nvSpPr>
          <p:cNvPr name="AutoShape 38" id="38"/>
          <p:cNvSpPr/>
          <p:nvPr/>
        </p:nvSpPr>
        <p:spPr>
          <a:xfrm rot="0" flipH="false" flipV="false">
            <a:off x="6477000" y="4445000"/>
            <a:ext cx="1752600" cy="1905000"/>
          </a:xfrm>
          <a:prstGeom prst="roundRect">
            <a:avLst>
              <a:gd name="adj" fmla="val 0"/>
            </a:avLst>
          </a:prstGeom>
          <a:solidFill>
            <a:srgbClr val="EBF5FF">
              <a:alpha val="95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6477000" y="4445000"/>
            <a:ext cx="1752600" cy="38100"/>
          </a:xfrm>
          <a:prstGeom prst="roundRect">
            <a:avLst>
              <a:gd name="adj" fmla="val 0"/>
            </a:avLst>
          </a:prstGeom>
          <a:solidFill>
            <a:srgbClr val="0052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6540500" y="4597400"/>
            <a:ext cx="1625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0F172A"/>
                </a:solidFill>
                <a:latin typeface="Noto Sans SC"/>
                <a:ea typeface="Noto Sans SC"/>
                <a:cs typeface="Noto Sans SC"/>
                <a:sym typeface="Noto Sans SC"/>
              </a:rPr>
              <a:t>收益风险测算</a:t>
            </a:r>
            <a:endParaRPr lang="en-US" sz="1100"/>
          </a:p>
        </p:txBody>
      </p:sp>
      <p:sp>
        <p:nvSpPr>
          <p:cNvPr name="AutoShape 41" id="41"/>
          <p:cNvSpPr/>
          <p:nvPr/>
        </p:nvSpPr>
        <p:spPr>
          <a:xfrm rot="0" flipH="false" flipV="false">
            <a:off x="6540500" y="5143500"/>
            <a:ext cx="16256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200">
                <a:solidFill>
                  <a:srgbClr val="334155"/>
                </a:solidFill>
                <a:latin typeface="Noto Sans SC"/>
                <a:ea typeface="Noto Sans SC"/>
                <a:cs typeface="Noto Sans SC"/>
                <a:sym typeface="Noto Sans SC"/>
              </a:rPr>
              <a:t>将情景参数代入模型，计算每种情景下的预期收益，精准量化方案的潜在风险敞口与回报区间。</a:t>
            </a:r>
            <a:endParaRPr lang="en-US" sz="1100"/>
          </a:p>
        </p:txBody>
      </p:sp>
      <p:sp>
        <p:nvSpPr>
          <p:cNvPr name="AutoShape 42" id="42"/>
          <p:cNvSpPr/>
          <p:nvPr/>
        </p:nvSpPr>
        <p:spPr>
          <a:xfrm rot="0" flipH="false" flipV="false">
            <a:off x="8191500" y="4445000"/>
            <a:ext cx="1752600" cy="1905000"/>
          </a:xfrm>
          <a:prstGeom prst="roundRect">
            <a:avLst>
              <a:gd name="adj" fmla="val 0"/>
            </a:avLst>
          </a:prstGeom>
          <a:solidFill>
            <a:srgbClr val="EBF5FF">
              <a:alpha val="95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43" id="43"/>
          <p:cNvSpPr/>
          <p:nvPr/>
        </p:nvSpPr>
        <p:spPr>
          <a:xfrm rot="0" flipH="false" flipV="false">
            <a:off x="8191500" y="4445000"/>
            <a:ext cx="1752600" cy="38100"/>
          </a:xfrm>
          <a:prstGeom prst="roundRect">
            <a:avLst>
              <a:gd name="adj" fmla="val 0"/>
            </a:avLst>
          </a:prstGeom>
          <a:solidFill>
            <a:srgbClr val="0052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8255000" y="4597400"/>
            <a:ext cx="1625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0F172A"/>
                </a:solidFill>
                <a:latin typeface="Noto Sans SC"/>
                <a:ea typeface="Noto Sans SC"/>
                <a:cs typeface="Noto Sans SC"/>
                <a:sym typeface="Noto Sans SC"/>
              </a:rPr>
              <a:t>鲁棒优化求解</a:t>
            </a:r>
            <a:endParaRPr lang="en-US" sz="1100"/>
          </a:p>
        </p:txBody>
      </p:sp>
      <p:sp>
        <p:nvSpPr>
          <p:cNvPr name="AutoShape 45" id="45"/>
          <p:cNvSpPr/>
          <p:nvPr/>
        </p:nvSpPr>
        <p:spPr>
          <a:xfrm rot="0" flipH="false" flipV="false">
            <a:off x="8255000" y="5143500"/>
            <a:ext cx="16256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200">
                <a:solidFill>
                  <a:srgbClr val="334155"/>
                </a:solidFill>
                <a:latin typeface="Noto Sans SC"/>
                <a:ea typeface="Noto Sans SC"/>
                <a:cs typeface="Noto Sans SC"/>
                <a:sym typeface="Noto Sans SC"/>
              </a:rPr>
              <a:t>构建“最大化最小收益”目标函数，求解在不确定性干扰下依然稳健的最优种植结构决策。</a:t>
            </a:r>
            <a:endParaRPr lang="en-US" sz="1100"/>
          </a:p>
        </p:txBody>
      </p:sp>
      <p:sp>
        <p:nvSpPr>
          <p:cNvPr name="AutoShape 46" id="46"/>
          <p:cNvSpPr/>
          <p:nvPr/>
        </p:nvSpPr>
        <p:spPr>
          <a:xfrm rot="0" flipH="false" flipV="false">
            <a:off x="9906000" y="4445000"/>
            <a:ext cx="1752600" cy="1905000"/>
          </a:xfrm>
          <a:prstGeom prst="roundRect">
            <a:avLst>
              <a:gd name="adj" fmla="val 0"/>
            </a:avLst>
          </a:prstGeom>
          <a:solidFill>
            <a:srgbClr val="DBEAFE">
              <a:alpha val="98000"/>
            </a:srgbClr>
          </a:solidFill>
          <a:ln w="12700" cmpd="sng" cap="flat">
            <a:solidFill>
              <a:srgbClr val="0052FF">
                <a:alpha val="50000"/>
              </a:srgbClr>
            </a:solidFill>
            <a:prstDash val="solid"/>
            <a:round/>
          </a:ln>
        </p:spPr>
        <p:txBody>
          <a:bodyPr anchor="ctr" rtlCol="false" vert="horz" wrap="square" lIns="63500" rIns="63500" tIns="63500" bIns="63500"/>
          <a:lstStyle/>
          <a:p>
            <a:pPr algn="ctr">
              <a:defRPr/>
            </a:pPr>
            <a:endParaRPr/>
          </a:p>
        </p:txBody>
      </p:sp>
      <p:sp>
        <p:nvSpPr>
          <p:cNvPr name="AutoShape 47" id="47"/>
          <p:cNvSpPr/>
          <p:nvPr/>
        </p:nvSpPr>
        <p:spPr>
          <a:xfrm rot="0" flipH="false" flipV="false">
            <a:off x="9906000" y="4445000"/>
            <a:ext cx="17526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8" id="48"/>
          <p:cNvSpPr/>
          <p:nvPr/>
        </p:nvSpPr>
        <p:spPr>
          <a:xfrm rot="0" flipH="false" flipV="false">
            <a:off x="9969500" y="4597400"/>
            <a:ext cx="16256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0052FF"/>
                </a:solidFill>
                <a:latin typeface="Noto Sans SC"/>
                <a:ea typeface="Noto Sans SC"/>
                <a:cs typeface="Noto Sans SC"/>
                <a:sym typeface="Noto Sans SC"/>
              </a:rPr>
              <a:t>最终方案落地</a:t>
            </a:r>
            <a:endParaRPr lang="en-US" sz="1100"/>
          </a:p>
        </p:txBody>
      </p:sp>
      <p:sp>
        <p:nvSpPr>
          <p:cNvPr name="AutoShape 49" id="49"/>
          <p:cNvSpPr/>
          <p:nvPr/>
        </p:nvSpPr>
        <p:spPr>
          <a:xfrm rot="0" flipH="false" flipV="false">
            <a:off x="9969500" y="5143500"/>
            <a:ext cx="1625600" cy="1079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200">
                <a:solidFill>
                  <a:srgbClr val="0F172A"/>
                </a:solidFill>
                <a:latin typeface="Noto Sans SC"/>
                <a:ea typeface="Noto Sans SC"/>
                <a:cs typeface="Noto Sans SC"/>
                <a:sym typeface="Noto Sans SC"/>
              </a:rPr>
              <a:t>输出兼具高收益与强抗风险能力的种植方案，为应对未来市场波动提供科学的决策依据。</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问题三：考虑相关性、替代性与互补性</a:t>
            </a:r>
            <a:endParaRPr lang="en-US" sz="1100"/>
          </a:p>
        </p:txBody>
      </p:sp>
      <p:sp>
        <p:nvSpPr>
          <p:cNvPr name="AutoShape 4" id="4"/>
          <p:cNvSpPr/>
          <p:nvPr/>
        </p:nvSpPr>
        <p:spPr>
          <a:xfrm rot="0" flipH="false" flipV="false">
            <a:off x="762000" y="1524000"/>
            <a:ext cx="10795000" cy="889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587500"/>
            <a:ext cx="1041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33333"/>
                </a:solidFill>
                <a:latin typeface="Noto Sans SC"/>
                <a:ea typeface="Noto Sans SC"/>
                <a:cs typeface="Noto Sans SC"/>
                <a:sym typeface="Noto Sans SC"/>
              </a:rPr>
              <a:t>在鲁棒优化的基础上，问题三进一步引入了更贴近真实市场的复杂关系。我们不再假设市场因素是孤立的，而是通过构建包含多维关联的模型，还原农业生产中的经济规律与生态逻辑，使决策支持系统更加科学完善。</a:t>
            </a:r>
            <a:endParaRPr lang="en-US" sz="1100"/>
          </a:p>
        </p:txBody>
      </p:sp>
      <p:sp>
        <p:nvSpPr>
          <p:cNvPr name="AutoShape 6" id="6"/>
          <p:cNvSpPr/>
          <p:nvPr/>
        </p:nvSpPr>
        <p:spPr>
          <a:xfrm rot="0" flipH="false" flipV="false">
            <a:off x="762000" y="2667000"/>
            <a:ext cx="3492500" cy="24765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667000"/>
            <a:ext cx="34925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2819400"/>
            <a:ext cx="311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相关性 (Correlation)</a:t>
            </a:r>
            <a:endParaRPr lang="en-US" sz="1100"/>
          </a:p>
        </p:txBody>
      </p:sp>
      <p:sp>
        <p:nvSpPr>
          <p:cNvPr name="AutoShape 9" id="9"/>
          <p:cNvSpPr/>
          <p:nvPr/>
        </p:nvSpPr>
        <p:spPr>
          <a:xfrm rot="0" flipH="false" flipV="false">
            <a:off x="952500" y="3302000"/>
            <a:ext cx="311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C3C3C"/>
                </a:solidFill>
                <a:latin typeface="Noto Sans SC"/>
                <a:ea typeface="Noto Sans SC"/>
                <a:cs typeface="Noto Sans SC"/>
                <a:sym typeface="Noto Sans SC"/>
              </a:rPr>
              <a:t>现实中价格、成本与需求并非独立存在。如某种蔬菜涨价会带动同类竞品需求上升，单一变量的波动会引发连锁反应，这种关联在市场中普遍存在且影响深远。</a:t>
            </a:r>
            <a:endParaRPr lang="en-US" sz="1100"/>
          </a:p>
        </p:txBody>
      </p:sp>
      <p:sp>
        <p:nvSpPr>
          <p:cNvPr name="AutoShape 10" id="10"/>
          <p:cNvSpPr/>
          <p:nvPr/>
        </p:nvSpPr>
        <p:spPr>
          <a:xfrm rot="0" flipH="false" flipV="false">
            <a:off x="952500" y="4318000"/>
            <a:ext cx="3111500" cy="762000"/>
          </a:xfrm>
          <a:prstGeom prst="roundRect">
            <a:avLst>
              <a:gd name="adj" fmla="val 0"/>
            </a:avLst>
          </a:prstGeom>
          <a:solidFill>
            <a:srgbClr val="0052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41400" y="4343400"/>
            <a:ext cx="2921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0037B4"/>
                </a:solidFill>
                <a:latin typeface="Noto Sans SC"/>
                <a:ea typeface="Noto Sans SC"/>
                <a:cs typeface="Noto Sans SC"/>
                <a:sym typeface="Noto Sans SC"/>
              </a:rPr>
              <a:t>建模实现：</a:t>
            </a:r>
            <a:r>
              <a:rPr lang="en-US" b="false" i="false" strike="noStrike" u="none" sz="1200">
                <a:solidFill>
                  <a:srgbClr val="1E3C6E"/>
                </a:solidFill>
                <a:latin typeface="Noto Sans SC"/>
                <a:ea typeface="Noto Sans SC"/>
                <a:cs typeface="Noto Sans SC"/>
                <a:sym typeface="Noto Sans SC"/>
              </a:rPr>
              <a:t>在随机情景生成中植入相关性系数矩阵，模拟变量间的联动效应，让市场场景符合真实经济规律。</a:t>
            </a:r>
            <a:endParaRPr lang="en-US" sz="1100"/>
          </a:p>
        </p:txBody>
      </p:sp>
      <p:sp>
        <p:nvSpPr>
          <p:cNvPr name="AutoShape 12" id="12"/>
          <p:cNvSpPr/>
          <p:nvPr/>
        </p:nvSpPr>
        <p:spPr>
          <a:xfrm rot="0" flipH="false" flipV="false">
            <a:off x="4445000" y="2667000"/>
            <a:ext cx="3492500" cy="24765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445000" y="2667000"/>
            <a:ext cx="34925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635500" y="2819400"/>
            <a:ext cx="311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替代性 (Substitution)</a:t>
            </a:r>
            <a:endParaRPr lang="en-US" sz="1100"/>
          </a:p>
        </p:txBody>
      </p:sp>
      <p:sp>
        <p:nvSpPr>
          <p:cNvPr name="AutoShape 15" id="15"/>
          <p:cNvSpPr/>
          <p:nvPr/>
        </p:nvSpPr>
        <p:spPr>
          <a:xfrm rot="0" flipH="false" flipV="false">
            <a:off x="4635500" y="3302000"/>
            <a:ext cx="311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C3C3C"/>
                </a:solidFill>
                <a:latin typeface="Noto Sans SC"/>
                <a:ea typeface="Noto Sans SC"/>
                <a:cs typeface="Noto Sans SC"/>
                <a:sym typeface="Noto Sans SC"/>
              </a:rPr>
              <a:t>同类作物存在需求互替。例如大白菜与小白菜在口感、用途上高度重叠，消费者会根据价格进行替代选择，过度种植单一品种极易导致滞销与收益风险。</a:t>
            </a:r>
            <a:endParaRPr lang="en-US" sz="1100"/>
          </a:p>
        </p:txBody>
      </p:sp>
      <p:sp>
        <p:nvSpPr>
          <p:cNvPr name="AutoShape 16" id="16"/>
          <p:cNvSpPr/>
          <p:nvPr/>
        </p:nvSpPr>
        <p:spPr>
          <a:xfrm rot="0" flipH="false" flipV="false">
            <a:off x="4635500" y="4318000"/>
            <a:ext cx="3111500" cy="762000"/>
          </a:xfrm>
          <a:prstGeom prst="roundRect">
            <a:avLst>
              <a:gd name="adj" fmla="val 0"/>
            </a:avLst>
          </a:prstGeom>
          <a:solidFill>
            <a:srgbClr val="0052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724400" y="4343400"/>
            <a:ext cx="2921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0037B4"/>
                </a:solidFill>
                <a:latin typeface="Noto Sans SC"/>
                <a:ea typeface="Noto Sans SC"/>
                <a:cs typeface="Noto Sans SC"/>
                <a:sym typeface="Noto Sans SC"/>
              </a:rPr>
              <a:t>建模实现：</a:t>
            </a:r>
            <a:r>
              <a:rPr lang="en-US" b="false" i="false" strike="noStrike" u="none" sz="1200">
                <a:solidFill>
                  <a:srgbClr val="1E3C6E"/>
                </a:solidFill>
                <a:latin typeface="Noto Sans SC"/>
                <a:ea typeface="Noto Sans SC"/>
                <a:cs typeface="Noto Sans SC"/>
                <a:sym typeface="Noto Sans SC"/>
              </a:rPr>
              <a:t>定义替代性作物需求组，组内共享总市场容量上限，通过约束机制引导种植结构的动态平衡。</a:t>
            </a:r>
            <a:endParaRPr lang="en-US" sz="1100"/>
          </a:p>
        </p:txBody>
      </p:sp>
      <p:sp>
        <p:nvSpPr>
          <p:cNvPr name="AutoShape 18" id="18"/>
          <p:cNvSpPr/>
          <p:nvPr/>
        </p:nvSpPr>
        <p:spPr>
          <a:xfrm rot="0" flipH="false" flipV="false">
            <a:off x="8128000" y="2667000"/>
            <a:ext cx="3492500" cy="24765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128000" y="2667000"/>
            <a:ext cx="3492500" cy="508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318500" y="2819400"/>
            <a:ext cx="311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互补性 (Complementarity)</a:t>
            </a:r>
            <a:endParaRPr lang="en-US" sz="1100"/>
          </a:p>
        </p:txBody>
      </p:sp>
      <p:sp>
        <p:nvSpPr>
          <p:cNvPr name="AutoShape 21" id="21"/>
          <p:cNvSpPr/>
          <p:nvPr/>
        </p:nvSpPr>
        <p:spPr>
          <a:xfrm rot="0" flipH="false" flipV="false">
            <a:off x="8318500" y="3302000"/>
            <a:ext cx="311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C3C3C"/>
                </a:solidFill>
                <a:latin typeface="Noto Sans SC"/>
                <a:ea typeface="Noto Sans SC"/>
                <a:cs typeface="Noto Sans SC"/>
                <a:sym typeface="Noto Sans SC"/>
              </a:rPr>
              <a:t>关注作物间的生态协同效应。典型如豆类作物的固氮作用，可改善土壤肥力，显著降低后续非豆类作物的种植成本并提升产量，形成良性的生态种植循环。</a:t>
            </a:r>
            <a:endParaRPr lang="en-US" sz="1100"/>
          </a:p>
        </p:txBody>
      </p:sp>
      <p:sp>
        <p:nvSpPr>
          <p:cNvPr name="AutoShape 22" id="22"/>
          <p:cNvSpPr/>
          <p:nvPr/>
        </p:nvSpPr>
        <p:spPr>
          <a:xfrm rot="0" flipH="false" flipV="false">
            <a:off x="8318500" y="4318000"/>
            <a:ext cx="3111500" cy="762000"/>
          </a:xfrm>
          <a:prstGeom prst="roundRect">
            <a:avLst>
              <a:gd name="adj" fmla="val 0"/>
            </a:avLst>
          </a:prstGeom>
          <a:solidFill>
            <a:srgbClr val="0052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407400" y="4343400"/>
            <a:ext cx="2921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0037B4"/>
                </a:solidFill>
                <a:latin typeface="Noto Sans SC"/>
                <a:ea typeface="Noto Sans SC"/>
                <a:cs typeface="Noto Sans SC"/>
                <a:sym typeface="Noto Sans SC"/>
              </a:rPr>
              <a:t>建模实现：</a:t>
            </a:r>
            <a:r>
              <a:rPr lang="en-US" b="false" i="false" strike="noStrike" u="none" sz="1200">
                <a:solidFill>
                  <a:srgbClr val="1E3C6E"/>
                </a:solidFill>
                <a:latin typeface="Noto Sans SC"/>
                <a:ea typeface="Noto Sans SC"/>
                <a:cs typeface="Noto Sans SC"/>
                <a:sym typeface="Noto Sans SC"/>
              </a:rPr>
              <a:t>量化轮作带来的隐性收益，将土壤改良的长期价值转化为成本参数，在目标函数中激励生态友好的轮作方案。</a:t>
            </a:r>
            <a:endParaRPr lang="en-US" sz="1100"/>
          </a:p>
        </p:txBody>
      </p:sp>
      <p:sp>
        <p:nvSpPr>
          <p:cNvPr name="AutoShape 24" id="24"/>
          <p:cNvSpPr/>
          <p:nvPr/>
        </p:nvSpPr>
        <p:spPr>
          <a:xfrm rot="0" flipH="false" flipV="false">
            <a:off x="762000" y="5334000"/>
            <a:ext cx="10858500" cy="1206500"/>
          </a:xfrm>
          <a:prstGeom prst="roundRect">
            <a:avLst>
              <a:gd name="adj" fmla="val 0"/>
            </a:avLst>
          </a:prstGeom>
          <a:solidFill>
            <a:srgbClr val="0041D2">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1016000" y="5435600"/>
            <a:ext cx="1028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FFFFF"/>
                </a:solidFill>
                <a:latin typeface="Noto Sans SC"/>
                <a:ea typeface="Noto Sans SC"/>
                <a:cs typeface="Noto Sans SC"/>
                <a:sym typeface="Noto Sans SC"/>
              </a:rPr>
              <a:t>模型价值跃迁：</a:t>
            </a:r>
            <a:r>
              <a:rPr lang="en-US" b="false" i="false" strike="noStrike" u="none" sz="1300">
                <a:solidFill>
                  <a:srgbClr val="EBF2FF"/>
                </a:solidFill>
                <a:latin typeface="Noto Sans SC"/>
                <a:ea typeface="Noto Sans SC"/>
                <a:cs typeface="Noto Sans SC"/>
                <a:sym typeface="Noto Sans SC"/>
              </a:rPr>
              <a:t>问题三的模型突破了孤立变量的假设，将经济市场的动态竞争与农业生态的内在协同深度融合。相比问题二，它更精准地还原了真实的农业生产环境，能够为种植户和决策者提供兼具抗市场风险与生态可持续性的种植结构优化方案。</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系统实现与代码结构</a:t>
            </a:r>
            <a:endParaRPr lang="en-US" sz="1100"/>
          </a:p>
        </p:txBody>
      </p:sp>
      <p:sp>
        <p:nvSpPr>
          <p:cNvPr name="AutoShape 4" id="4"/>
          <p:cNvSpPr/>
          <p:nvPr/>
        </p:nvSpPr>
        <p:spPr>
          <a:xfrm rot="0" flipH="false" flipV="false">
            <a:off x="762000" y="1651000"/>
            <a:ext cx="2603500" cy="1905000"/>
          </a:xfrm>
          <a:prstGeom prst="roundRect">
            <a:avLst>
              <a:gd name="adj" fmla="val 0"/>
            </a:avLst>
          </a:prstGeom>
          <a:solidFill>
            <a:srgbClr val="FFFF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2603500" cy="50800"/>
          </a:xfrm>
          <a:prstGeom prst="roundRect">
            <a:avLst>
              <a:gd name="adj" fmla="val 0"/>
            </a:avLst>
          </a:prstGeom>
          <a:solidFill>
            <a:srgbClr val="0052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7780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基础数据输入</a:t>
            </a:r>
            <a:endParaRPr lang="en-US" sz="1100"/>
          </a:p>
        </p:txBody>
      </p:sp>
      <p:sp>
        <p:nvSpPr>
          <p:cNvPr name="AutoShape 7" id="7"/>
          <p:cNvSpPr/>
          <p:nvPr/>
        </p:nvSpPr>
        <p:spPr>
          <a:xfrm rot="0" flipH="false" flipV="false">
            <a:off x="8890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核心数据载体，包含地块属性、作物参数与历史统计信息。</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75569"/>
                </a:solidFill>
                <a:latin typeface="Noto Sans SC"/>
                <a:ea typeface="Noto Sans SC"/>
                <a:cs typeface="Noto Sans SC"/>
                <a:sym typeface="Noto Sans SC"/>
              </a:rPr>
              <a:t>文件：附件1.xlsx / 附件2.xlsx</a:t>
            </a:r>
            <a:endParaRPr lang="en-US" sz="1100"/>
          </a:p>
        </p:txBody>
      </p:sp>
      <p:sp>
        <p:nvSpPr>
          <p:cNvPr name="AutoShape 8" id="8"/>
          <p:cNvSpPr/>
          <p:nvPr/>
        </p:nvSpPr>
        <p:spPr>
          <a:xfrm rot="0" flipH="false" flipV="false">
            <a:off x="3530600" y="1651000"/>
            <a:ext cx="2603500" cy="1905000"/>
          </a:xfrm>
          <a:prstGeom prst="roundRect">
            <a:avLst>
              <a:gd name="adj" fmla="val 0"/>
            </a:avLst>
          </a:prstGeom>
          <a:solidFill>
            <a:srgbClr val="FFFF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30600" y="1651000"/>
            <a:ext cx="2603500" cy="50800"/>
          </a:xfrm>
          <a:prstGeom prst="roundRect">
            <a:avLst>
              <a:gd name="adj" fmla="val 0"/>
            </a:avLst>
          </a:prstGeom>
          <a:solidFill>
            <a:srgbClr val="0052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57600" y="17780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计算成果归档</a:t>
            </a:r>
            <a:endParaRPr lang="en-US" sz="1100"/>
          </a:p>
        </p:txBody>
      </p:sp>
      <p:sp>
        <p:nvSpPr>
          <p:cNvPr name="AutoShape 11" id="11"/>
          <p:cNvSpPr/>
          <p:nvPr/>
        </p:nvSpPr>
        <p:spPr>
          <a:xfrm rot="0" flipH="false" flipV="false">
            <a:off x="36576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自动化生成求解方案，包含明细报表与汇总摘要。</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75569"/>
                </a:solidFill>
                <a:latin typeface="Noto Sans SC"/>
                <a:ea typeface="Noto Sans SC"/>
                <a:cs typeface="Noto Sans SC"/>
                <a:sym typeface="Noto Sans SC"/>
              </a:rPr>
              <a:t>目录：output/ (结果集) / 附件3/ (模板库)</a:t>
            </a:r>
            <a:endParaRPr lang="en-US" sz="1100"/>
          </a:p>
        </p:txBody>
      </p:sp>
      <p:sp>
        <p:nvSpPr>
          <p:cNvPr name="AutoShape 12" id="12"/>
          <p:cNvSpPr/>
          <p:nvPr/>
        </p:nvSpPr>
        <p:spPr>
          <a:xfrm rot="0" flipH="false" flipV="false">
            <a:off x="6299200" y="1651000"/>
            <a:ext cx="2603500" cy="1905000"/>
          </a:xfrm>
          <a:prstGeom prst="roundRect">
            <a:avLst>
              <a:gd name="adj" fmla="val 0"/>
            </a:avLst>
          </a:prstGeom>
          <a:solidFill>
            <a:srgbClr val="FFFF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299200" y="1651000"/>
            <a:ext cx="2603500" cy="50800"/>
          </a:xfrm>
          <a:prstGeom prst="roundRect">
            <a:avLst>
              <a:gd name="adj" fmla="val 0"/>
            </a:avLst>
          </a:prstGeom>
          <a:solidFill>
            <a:srgbClr val="0052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26200" y="17780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求解引擎脚本</a:t>
            </a:r>
            <a:endParaRPr lang="en-US" sz="1100"/>
          </a:p>
        </p:txBody>
      </p:sp>
      <p:sp>
        <p:nvSpPr>
          <p:cNvPr name="AutoShape 15" id="15"/>
          <p:cNvSpPr/>
          <p:nvPr/>
        </p:nvSpPr>
        <p:spPr>
          <a:xfrm rot="0" flipH="false" flipV="false">
            <a:off x="64262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针对不同业务场景的独立求解器，实现算法解耦。</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75569"/>
                </a:solidFill>
                <a:latin typeface="Noto Sans SC"/>
                <a:ea typeface="Noto Sans SC"/>
                <a:cs typeface="Noto Sans SC"/>
                <a:sym typeface="Noto Sans SC"/>
              </a:rPr>
              <a:t>文件：solve_problem*.py 系列核心脚本</a:t>
            </a:r>
            <a:endParaRPr lang="en-US" sz="1100"/>
          </a:p>
        </p:txBody>
      </p:sp>
      <p:sp>
        <p:nvSpPr>
          <p:cNvPr name="AutoShape 16" id="16"/>
          <p:cNvSpPr/>
          <p:nvPr/>
        </p:nvSpPr>
        <p:spPr>
          <a:xfrm rot="0" flipH="false" flipV="false">
            <a:off x="9067800" y="1651000"/>
            <a:ext cx="2603500" cy="1905000"/>
          </a:xfrm>
          <a:prstGeom prst="roundRect">
            <a:avLst>
              <a:gd name="adj" fmla="val 0"/>
            </a:avLst>
          </a:prstGeom>
          <a:solidFill>
            <a:srgbClr val="FFFFFF">
              <a:alpha val="92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067800" y="1651000"/>
            <a:ext cx="2603500" cy="50800"/>
          </a:xfrm>
          <a:prstGeom prst="roundRect">
            <a:avLst>
              <a:gd name="adj" fmla="val 0"/>
            </a:avLst>
          </a:prstGeom>
          <a:solidFill>
            <a:srgbClr val="0052F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194800" y="17780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52FF"/>
                </a:solidFill>
                <a:latin typeface="Noto Sans SC"/>
                <a:ea typeface="Noto Sans SC"/>
                <a:cs typeface="Noto Sans SC"/>
                <a:sym typeface="Noto Sans SC"/>
              </a:rPr>
              <a:t>项目工程配置</a:t>
            </a:r>
            <a:endParaRPr lang="en-US" sz="1100"/>
          </a:p>
        </p:txBody>
      </p:sp>
      <p:sp>
        <p:nvSpPr>
          <p:cNvPr name="AutoShape 19" id="19"/>
          <p:cNvSpPr/>
          <p:nvPr/>
        </p:nvSpPr>
        <p:spPr>
          <a:xfrm rot="0" flipH="false" flipV="false">
            <a:off x="91948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4155"/>
                </a:solidFill>
                <a:latin typeface="Noto Sans SC"/>
                <a:ea typeface="Noto Sans SC"/>
                <a:cs typeface="Noto Sans SC"/>
                <a:sym typeface="Noto Sans SC"/>
              </a:rPr>
              <a:t>保障环境一致性与项目可交付性的说明文档。</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75569"/>
                </a:solidFill>
                <a:latin typeface="Noto Sans SC"/>
                <a:ea typeface="Noto Sans SC"/>
                <a:cs typeface="Noto Sans SC"/>
                <a:sym typeface="Noto Sans SC"/>
              </a:rPr>
              <a:t>文件：README.md / requirements.txt</a:t>
            </a:r>
            <a:endParaRPr lang="en-US" sz="1100"/>
          </a:p>
        </p:txBody>
      </p:sp>
      <p:sp>
        <p:nvSpPr>
          <p:cNvPr name="AutoShape 20" id="20"/>
          <p:cNvSpPr/>
          <p:nvPr/>
        </p:nvSpPr>
        <p:spPr>
          <a:xfrm rot="0" flipH="false" flipV="false">
            <a:off x="762000" y="3937000"/>
            <a:ext cx="3556000" cy="2286000"/>
          </a:xfrm>
          <a:prstGeom prst="roundRect">
            <a:avLst>
              <a:gd name="adj" fmla="val 0"/>
            </a:avLst>
          </a:prstGeom>
          <a:solidFill>
            <a:srgbClr val="0F172A">
              <a:alpha val="78000"/>
            </a:srgbClr>
          </a:solidFill>
          <a:ln w="12700" cmpd="sng" cap="flat">
            <a:solidFill>
              <a:srgbClr val="38BDF8">
                <a:alpha val="3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3937000"/>
            <a:ext cx="50800" cy="2286000"/>
          </a:xfrm>
          <a:prstGeom prst="roundRect">
            <a:avLst>
              <a:gd name="adj" fmla="val 0"/>
            </a:avLst>
          </a:prstGeom>
          <a:solidFill>
            <a:srgbClr val="38BD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52500" y="40894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38BDF8"/>
                </a:solidFill>
                <a:latin typeface="Noto Sans SC"/>
                <a:ea typeface="Noto Sans SC"/>
                <a:cs typeface="Noto Sans SC"/>
                <a:sym typeface="Noto Sans SC"/>
              </a:rPr>
              <a:t>Problem 1 · 确定性模型</a:t>
            </a:r>
            <a:endParaRPr lang="en-US" sz="1100"/>
          </a:p>
        </p:txBody>
      </p:sp>
      <p:sp>
        <p:nvSpPr>
          <p:cNvPr name="AutoShape 23" id="23"/>
          <p:cNvSpPr/>
          <p:nvPr/>
        </p:nvSpPr>
        <p:spPr>
          <a:xfrm rot="0" flipH="false" flipV="false">
            <a:off x="952500" y="4635500"/>
            <a:ext cx="3238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solidFill>
                <a:latin typeface="Noto Sans SC"/>
                <a:ea typeface="Noto Sans SC"/>
                <a:cs typeface="Noto Sans SC"/>
                <a:sym typeface="Noto Sans SC"/>
              </a:rPr>
              <a:t>基于 MILP（混合整数线性规划）算法，针对两种销售情形建立基础优化模型，快速获取资源分配的基准方案。</a:t>
            </a:r>
            <a:endParaRPr lang="en-US" sz="1100"/>
          </a:p>
        </p:txBody>
      </p:sp>
      <p:sp>
        <p:nvSpPr>
          <p:cNvPr name="AutoShape 24" id="24"/>
          <p:cNvSpPr/>
          <p:nvPr/>
        </p:nvSpPr>
        <p:spPr>
          <a:xfrm rot="0" flipH="false" flipV="false">
            <a:off x="952500" y="5461000"/>
            <a:ext cx="3238500" cy="635000"/>
          </a:xfrm>
          <a:prstGeom prst="roundRect">
            <a:avLst>
              <a:gd name="adj" fmla="val 0"/>
            </a:avLst>
          </a:prstGeom>
          <a:solidFill>
            <a:srgbClr val="38BDF8">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1079500" y="5511800"/>
            <a:ext cx="3048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BAE6FD"/>
                </a:solidFill>
                <a:latin typeface="Noto Sans SC"/>
                <a:ea typeface="Noto Sans SC"/>
                <a:cs typeface="Noto Sans SC"/>
                <a:sym typeface="Noto Sans SC"/>
              </a:rPr>
              <a:t>脚本：solve_problem1_milp_fast.py</a:t>
            </a:r>
            <a:r>
              <a:rPr lang="en-US" b="false" i="false" strike="noStrike" u="none" sz="1200">
                <a:solidFill>
                  <a:srgbClr val="BAE6FD"/>
                </a:solidFill>
                <a:latin typeface="Noto Sans SC"/>
                <a:ea typeface="Noto Sans SC"/>
                <a:cs typeface="Noto Sans SC"/>
                <a:sym typeface="Noto Sans SC"/>
              </a:rPr>
              <a:t/>
            </a:r>
            <a:br>
              <a:rPr lang="en-US" b="false" i="false" strike="noStrike" u="none" sz="1200">
                <a:solidFill>
                  <a:srgbClr val="BAE6FD"/>
                </a:solidFill>
                <a:latin typeface="Noto Sans SC"/>
                <a:ea typeface="Noto Sans SC"/>
                <a:cs typeface="Noto Sans SC"/>
                <a:sym typeface="Noto Sans SC"/>
              </a:rPr>
            </a:br>
            <a:r>
              <a:rPr lang="en-US" b="false" i="false" strike="noStrike" u="none" sz="1200">
                <a:solidFill>
                  <a:srgbClr val="BAE6FD"/>
                </a:solidFill>
                <a:latin typeface="Noto Sans SC"/>
                <a:ea typeface="Noto Sans SC"/>
                <a:cs typeface="Noto Sans SC"/>
                <a:sym typeface="Noto Sans SC"/>
              </a:rPr>
              <a:t>定位：基础方案的快速求解引擎</a:t>
            </a:r>
            <a:endParaRPr lang="en-US" sz="1100"/>
          </a:p>
        </p:txBody>
      </p:sp>
      <p:sp>
        <p:nvSpPr>
          <p:cNvPr name="AutoShape 26" id="26"/>
          <p:cNvSpPr/>
          <p:nvPr/>
        </p:nvSpPr>
        <p:spPr>
          <a:xfrm rot="0" flipH="false" flipV="false">
            <a:off x="4508500" y="3937000"/>
            <a:ext cx="3556000" cy="2286000"/>
          </a:xfrm>
          <a:prstGeom prst="roundRect">
            <a:avLst>
              <a:gd name="adj" fmla="val 0"/>
            </a:avLst>
          </a:prstGeom>
          <a:solidFill>
            <a:srgbClr val="0F172A">
              <a:alpha val="78000"/>
            </a:srgbClr>
          </a:solidFill>
          <a:ln w="12700" cmpd="sng" cap="flat">
            <a:solidFill>
              <a:srgbClr val="818CF8">
                <a:alpha val="35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4508500" y="3937000"/>
            <a:ext cx="50800" cy="2286000"/>
          </a:xfrm>
          <a:prstGeom prst="roundRect">
            <a:avLst>
              <a:gd name="adj" fmla="val 0"/>
            </a:avLst>
          </a:prstGeom>
          <a:solidFill>
            <a:srgbClr val="818C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4699000" y="40894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818CF8"/>
                </a:solidFill>
                <a:latin typeface="Noto Sans SC"/>
                <a:ea typeface="Noto Sans SC"/>
                <a:cs typeface="Noto Sans SC"/>
                <a:sym typeface="Noto Sans SC"/>
              </a:rPr>
              <a:t>Problem 2 · 鲁棒优化模型</a:t>
            </a:r>
            <a:endParaRPr lang="en-US" sz="1100"/>
          </a:p>
        </p:txBody>
      </p:sp>
      <p:sp>
        <p:nvSpPr>
          <p:cNvPr name="AutoShape 29" id="29"/>
          <p:cNvSpPr/>
          <p:nvPr/>
        </p:nvSpPr>
        <p:spPr>
          <a:xfrm rot="0" flipH="false" flipV="false">
            <a:off x="4699000" y="4635500"/>
            <a:ext cx="3238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solidFill>
                <a:latin typeface="Noto Sans SC"/>
                <a:ea typeface="Noto Sans SC"/>
                <a:cs typeface="Noto Sans SC"/>
                <a:sym typeface="Noto Sans SC"/>
              </a:rPr>
              <a:t>引入多情景生成机制，构建鲁棒优化框架。在不确定性参数波动下，寻找具有抗干扰能力的稳健生产策略。</a:t>
            </a:r>
            <a:endParaRPr lang="en-US" sz="1100"/>
          </a:p>
        </p:txBody>
      </p:sp>
      <p:sp>
        <p:nvSpPr>
          <p:cNvPr name="AutoShape 30" id="30"/>
          <p:cNvSpPr/>
          <p:nvPr/>
        </p:nvSpPr>
        <p:spPr>
          <a:xfrm rot="0" flipH="false" flipV="false">
            <a:off x="4699000" y="5461000"/>
            <a:ext cx="3238500" cy="635000"/>
          </a:xfrm>
          <a:prstGeom prst="roundRect">
            <a:avLst>
              <a:gd name="adj" fmla="val 0"/>
            </a:avLst>
          </a:prstGeom>
          <a:solidFill>
            <a:srgbClr val="818CF8">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4826000" y="5511800"/>
            <a:ext cx="3048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C7D2FE"/>
                </a:solidFill>
                <a:latin typeface="Noto Sans SC"/>
                <a:ea typeface="Noto Sans SC"/>
                <a:cs typeface="Noto Sans SC"/>
                <a:sym typeface="Noto Sans SC"/>
              </a:rPr>
              <a:t>脚本：solve_problem2_robust_milp.py</a:t>
            </a:r>
            <a:r>
              <a:rPr lang="en-US" b="false" i="false" strike="noStrike" u="none" sz="1200">
                <a:solidFill>
                  <a:srgbClr val="C7D2FE"/>
                </a:solidFill>
                <a:latin typeface="Noto Sans SC"/>
                <a:ea typeface="Noto Sans SC"/>
                <a:cs typeface="Noto Sans SC"/>
                <a:sym typeface="Noto Sans SC"/>
              </a:rPr>
              <a:t/>
            </a:r>
            <a:br>
              <a:rPr lang="en-US" b="false" i="false" strike="noStrike" u="none" sz="1200">
                <a:solidFill>
                  <a:srgbClr val="C7D2FE"/>
                </a:solidFill>
                <a:latin typeface="Noto Sans SC"/>
                <a:ea typeface="Noto Sans SC"/>
                <a:cs typeface="Noto Sans SC"/>
                <a:sym typeface="Noto Sans SC"/>
              </a:rPr>
            </a:br>
            <a:r>
              <a:rPr lang="en-US" b="false" i="false" strike="noStrike" u="none" sz="1200">
                <a:solidFill>
                  <a:srgbClr val="C7D2FE"/>
                </a:solidFill>
                <a:latin typeface="Noto Sans SC"/>
                <a:ea typeface="Noto Sans SC"/>
                <a:cs typeface="Noto Sans SC"/>
                <a:sym typeface="Noto Sans SC"/>
              </a:rPr>
              <a:t>定位：不确定性下的稳健决策支持</a:t>
            </a:r>
            <a:endParaRPr lang="en-US" sz="1100"/>
          </a:p>
        </p:txBody>
      </p:sp>
      <p:sp>
        <p:nvSpPr>
          <p:cNvPr name="AutoShape 32" id="32"/>
          <p:cNvSpPr/>
          <p:nvPr/>
        </p:nvSpPr>
        <p:spPr>
          <a:xfrm rot="0" flipH="false" flipV="false">
            <a:off x="8255000" y="3937000"/>
            <a:ext cx="3556000" cy="2286000"/>
          </a:xfrm>
          <a:prstGeom prst="roundRect">
            <a:avLst>
              <a:gd name="adj" fmla="val 0"/>
            </a:avLst>
          </a:prstGeom>
          <a:solidFill>
            <a:srgbClr val="0F172A">
              <a:alpha val="78000"/>
            </a:srgbClr>
          </a:solidFill>
          <a:ln w="12700" cmpd="sng" cap="flat">
            <a:solidFill>
              <a:srgbClr val="A78BFA">
                <a:alpha val="35000"/>
              </a:srgbClr>
            </a:solid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8255000" y="3937000"/>
            <a:ext cx="50800" cy="2286000"/>
          </a:xfrm>
          <a:prstGeom prst="roundRect">
            <a:avLst>
              <a:gd name="adj" fmla="val 0"/>
            </a:avLst>
          </a:prstGeom>
          <a:solidFill>
            <a:srgbClr val="A78B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8445500" y="40894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A78BFA"/>
                </a:solidFill>
                <a:latin typeface="Noto Sans SC"/>
                <a:ea typeface="Noto Sans SC"/>
                <a:cs typeface="Noto Sans SC"/>
                <a:sym typeface="Noto Sans SC"/>
              </a:rPr>
              <a:t>Problem 3 · 复杂系统模型</a:t>
            </a:r>
            <a:endParaRPr lang="en-US" sz="1100"/>
          </a:p>
        </p:txBody>
      </p:sp>
      <p:sp>
        <p:nvSpPr>
          <p:cNvPr name="AutoShape 35" id="35"/>
          <p:cNvSpPr/>
          <p:nvPr/>
        </p:nvSpPr>
        <p:spPr>
          <a:xfrm rot="0" flipH="false" flipV="false">
            <a:off x="8445500" y="4635500"/>
            <a:ext cx="3238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E2E8F0"/>
                </a:solidFill>
                <a:latin typeface="Noto Sans SC"/>
                <a:ea typeface="Noto Sans SC"/>
                <a:cs typeface="Noto Sans SC"/>
                <a:sym typeface="Noto Sans SC"/>
              </a:rPr>
              <a:t>叠加变量间的相关性、替代性与互补性约束。模拟现实世界中更复杂的市场互动关系，生成高阶优化方案。</a:t>
            </a:r>
            <a:endParaRPr lang="en-US" sz="1100"/>
          </a:p>
        </p:txBody>
      </p:sp>
      <p:sp>
        <p:nvSpPr>
          <p:cNvPr name="AutoShape 36" id="36"/>
          <p:cNvSpPr/>
          <p:nvPr/>
        </p:nvSpPr>
        <p:spPr>
          <a:xfrm rot="0" flipH="false" flipV="false">
            <a:off x="8445500" y="5461000"/>
            <a:ext cx="3238500" cy="635000"/>
          </a:xfrm>
          <a:prstGeom prst="roundRect">
            <a:avLst>
              <a:gd name="adj" fmla="val 0"/>
            </a:avLst>
          </a:prstGeom>
          <a:solidFill>
            <a:srgbClr val="A78BFA">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8572500" y="5511800"/>
            <a:ext cx="3048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DDD6FE"/>
                </a:solidFill>
                <a:latin typeface="Noto Sans SC"/>
                <a:ea typeface="Noto Sans SC"/>
                <a:cs typeface="Noto Sans SC"/>
                <a:sym typeface="Noto Sans SC"/>
              </a:rPr>
              <a:t>脚本：solve_problem3_correlated...py</a:t>
            </a:r>
            <a:r>
              <a:rPr lang="en-US" b="false" i="false" strike="noStrike" u="none" sz="1200">
                <a:solidFill>
                  <a:srgbClr val="DDD6FE"/>
                </a:solidFill>
                <a:latin typeface="Noto Sans SC"/>
                <a:ea typeface="Noto Sans SC"/>
                <a:cs typeface="Noto Sans SC"/>
                <a:sym typeface="Noto Sans SC"/>
              </a:rPr>
              <a:t/>
            </a:r>
            <a:br>
              <a:rPr lang="en-US" b="false" i="false" strike="noStrike" u="none" sz="1200">
                <a:solidFill>
                  <a:srgbClr val="DDD6FE"/>
                </a:solidFill>
                <a:latin typeface="Noto Sans SC"/>
                <a:ea typeface="Noto Sans SC"/>
                <a:cs typeface="Noto Sans SC"/>
                <a:sym typeface="Noto Sans SC"/>
              </a:rPr>
            </a:br>
            <a:r>
              <a:rPr lang="en-US" b="false" i="false" strike="noStrike" u="none" sz="1200">
                <a:solidFill>
                  <a:srgbClr val="DDD6FE"/>
                </a:solidFill>
                <a:latin typeface="Noto Sans SC"/>
                <a:ea typeface="Noto Sans SC"/>
                <a:cs typeface="Noto Sans SC"/>
                <a:sym typeface="Noto Sans SC"/>
              </a:rPr>
              <a:t>定位：高阶商业逻辑的模拟求解</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遇到的问题与解决方案</a:t>
            </a:r>
            <a:endParaRPr lang="en-US" sz="1100"/>
          </a:p>
        </p:txBody>
      </p:sp>
      <p:sp>
        <p:nvSpPr>
          <p:cNvPr name="AutoShape 4" id="4"/>
          <p:cNvSpPr/>
          <p:nvPr/>
        </p:nvSpPr>
        <p:spPr>
          <a:xfrm rot="0" flipH="false" flipV="false">
            <a:off x="762000" y="1651000"/>
            <a:ext cx="3492500" cy="2095500"/>
          </a:xfrm>
          <a:prstGeom prst="roundRect">
            <a:avLst>
              <a:gd name="adj" fmla="val 0"/>
            </a:avLst>
          </a:prstGeom>
          <a:solidFill>
            <a:srgbClr val="FFFFFF">
              <a:alpha val="88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492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778000"/>
            <a:ext cx="3238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11827"/>
                </a:solidFill>
                <a:latin typeface="Noto Sans SC"/>
                <a:ea typeface="Noto Sans SC"/>
                <a:cs typeface="Noto Sans SC"/>
                <a:sym typeface="Noto Sans SC"/>
              </a:rPr>
              <a:t>MILP求解速度慢</a:t>
            </a:r>
            <a:endParaRPr lang="en-US" sz="1100"/>
          </a:p>
        </p:txBody>
      </p:sp>
      <p:sp>
        <p:nvSpPr>
          <p:cNvPr name="AutoShape 7" id="7"/>
          <p:cNvSpPr/>
          <p:nvPr/>
        </p:nvSpPr>
        <p:spPr>
          <a:xfrm rot="0" flipH="false" flipV="false">
            <a:off x="889000" y="2286000"/>
            <a:ext cx="3238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引入HiGHS高性能求解器作为核心引擎，通过合理配置time-limit、gap和计算线程数优化求解效率；同时保留CBC求解器作为备选方案，形成“主备双驱”的求解策略，平衡计算速度与结果稳定性。</a:t>
            </a:r>
            <a:endParaRPr lang="en-US" sz="1100"/>
          </a:p>
        </p:txBody>
      </p:sp>
      <p:sp>
        <p:nvSpPr>
          <p:cNvPr name="AutoShape 8" id="8"/>
          <p:cNvSpPr/>
          <p:nvPr/>
        </p:nvSpPr>
        <p:spPr>
          <a:xfrm rot="0" flipH="false" flipV="false">
            <a:off x="4406900" y="1651000"/>
            <a:ext cx="3492500" cy="2095500"/>
          </a:xfrm>
          <a:prstGeom prst="roundRect">
            <a:avLst>
              <a:gd name="adj" fmla="val 0"/>
            </a:avLst>
          </a:prstGeom>
          <a:solidFill>
            <a:srgbClr val="FFFFFF">
              <a:alpha val="88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06900" y="1651000"/>
            <a:ext cx="3492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533900" y="1778000"/>
            <a:ext cx="3238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11827"/>
                </a:solidFill>
                <a:latin typeface="Noto Sans SC"/>
                <a:ea typeface="Noto Sans SC"/>
                <a:cs typeface="Noto Sans SC"/>
                <a:sym typeface="Noto Sans SC"/>
              </a:rPr>
              <a:t>求解器参数未生效</a:t>
            </a:r>
            <a:endParaRPr lang="en-US" sz="1100"/>
          </a:p>
        </p:txBody>
      </p:sp>
      <p:sp>
        <p:nvSpPr>
          <p:cNvPr name="AutoShape 11" id="11"/>
          <p:cNvSpPr/>
          <p:nvPr/>
        </p:nvSpPr>
        <p:spPr>
          <a:xfrm rot="0" flipH="false" flipV="false">
            <a:off x="4533900" y="2286000"/>
            <a:ext cx="3238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深度调试代码中求解器的实例化流程，严格校验timeLimit、gapRel等关键参数的数据类型与传递路径，确保配置项精准映射到求解器底层API。通过单元测试覆盖参数传递逻辑，从源头杜绝配置失效问题。</a:t>
            </a:r>
            <a:endParaRPr lang="en-US" sz="1100"/>
          </a:p>
        </p:txBody>
      </p:sp>
      <p:sp>
        <p:nvSpPr>
          <p:cNvPr name="AutoShape 12" id="12"/>
          <p:cNvSpPr/>
          <p:nvPr/>
        </p:nvSpPr>
        <p:spPr>
          <a:xfrm rot="0" flipH="false" flipV="false">
            <a:off x="8051800" y="1651000"/>
            <a:ext cx="3492500" cy="2095500"/>
          </a:xfrm>
          <a:prstGeom prst="roundRect">
            <a:avLst>
              <a:gd name="adj" fmla="val 0"/>
            </a:avLst>
          </a:prstGeom>
          <a:solidFill>
            <a:srgbClr val="FFFFFF">
              <a:alpha val="88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051800" y="1651000"/>
            <a:ext cx="34925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78800" y="1778000"/>
            <a:ext cx="3238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11827"/>
                </a:solidFill>
                <a:latin typeface="Noto Sans SC"/>
                <a:ea typeface="Noto Sans SC"/>
                <a:cs typeface="Noto Sans SC"/>
                <a:sym typeface="Noto Sans SC"/>
              </a:rPr>
              <a:t>Excel模板写回复杂</a:t>
            </a:r>
            <a:endParaRPr lang="en-US" sz="1100"/>
          </a:p>
        </p:txBody>
      </p:sp>
      <p:sp>
        <p:nvSpPr>
          <p:cNvPr name="AutoShape 15" id="15"/>
          <p:cNvSpPr/>
          <p:nvPr/>
        </p:nvSpPr>
        <p:spPr>
          <a:xfrm rot="0" flipH="false" flipV="false">
            <a:off x="8178800" y="2286000"/>
            <a:ext cx="3238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采用openpyxl库实现精细化数据操作，建立年份、地块、季节、作物的多维映射关系表。将计算结果按业务维度解析后，通过坐标定位算法精准写入模板指定单元格，实现复杂报表的自动化、零误差生成。</a:t>
            </a:r>
            <a:endParaRPr lang="en-US" sz="1100"/>
          </a:p>
        </p:txBody>
      </p:sp>
      <p:sp>
        <p:nvSpPr>
          <p:cNvPr name="AutoShape 16" id="16"/>
          <p:cNvSpPr/>
          <p:nvPr/>
        </p:nvSpPr>
        <p:spPr>
          <a:xfrm rot="0" flipH="false" flipV="false">
            <a:off x="762000" y="3937000"/>
            <a:ext cx="5232400" cy="2286000"/>
          </a:xfrm>
          <a:prstGeom prst="roundRect">
            <a:avLst>
              <a:gd name="adj" fmla="val 0"/>
            </a:avLst>
          </a:prstGeom>
          <a:solidFill>
            <a:srgbClr val="FFFFFF">
              <a:alpha val="88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937000"/>
            <a:ext cx="52324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89000" y="4064000"/>
            <a:ext cx="495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11827"/>
                </a:solidFill>
                <a:latin typeface="Noto Sans SC"/>
                <a:ea typeface="Noto Sans SC"/>
                <a:cs typeface="Noto Sans SC"/>
                <a:sym typeface="Noto Sans SC"/>
              </a:rPr>
              <a:t>“不宜太分散”无明确数值</a:t>
            </a:r>
            <a:endParaRPr lang="en-US" sz="1100"/>
          </a:p>
        </p:txBody>
      </p:sp>
      <p:sp>
        <p:nvSpPr>
          <p:cNvPr name="AutoShape 19" id="19"/>
          <p:cNvSpPr/>
          <p:nvPr/>
        </p:nvSpPr>
        <p:spPr>
          <a:xfrm rot="0" flipH="false" flipV="false">
            <a:off x="889000" y="4635500"/>
            <a:ext cx="495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将模糊的定性业务规则工程化、定量化。引入“最小种植面积阈值”与“每季最多作物品种数”作为核心约束条件，把非结构化的业务描述转化为数学模型可识别的硬性约束，既满足业务对规模效应的要求，又让算法决策具备可解释性和执行边界。</a:t>
            </a:r>
            <a:endParaRPr lang="en-US" sz="1100"/>
          </a:p>
        </p:txBody>
      </p:sp>
      <p:sp>
        <p:nvSpPr>
          <p:cNvPr name="AutoShape 20" id="20"/>
          <p:cNvSpPr/>
          <p:nvPr/>
        </p:nvSpPr>
        <p:spPr>
          <a:xfrm rot="0" flipH="false" flipV="false">
            <a:off x="6248400" y="3937000"/>
            <a:ext cx="5232400" cy="2286000"/>
          </a:xfrm>
          <a:prstGeom prst="roundRect">
            <a:avLst>
              <a:gd name="adj" fmla="val 0"/>
            </a:avLst>
          </a:prstGeom>
          <a:solidFill>
            <a:srgbClr val="FFFFFF">
              <a:alpha val="88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248400" y="3937000"/>
            <a:ext cx="52324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375400" y="4064000"/>
            <a:ext cx="495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11827"/>
                </a:solidFill>
                <a:latin typeface="Noto Sans SC"/>
                <a:ea typeface="Noto Sans SC"/>
                <a:cs typeface="Noto Sans SC"/>
                <a:sym typeface="Noto Sans SC"/>
              </a:rPr>
              <a:t>问题无唯一标准答案</a:t>
            </a:r>
            <a:endParaRPr lang="en-US" sz="1100"/>
          </a:p>
        </p:txBody>
      </p:sp>
      <p:sp>
        <p:nvSpPr>
          <p:cNvPr name="AutoShape 23" id="23"/>
          <p:cNvSpPr/>
          <p:nvPr/>
        </p:nvSpPr>
        <p:spPr>
          <a:xfrm rot="0" flipH="false" flipV="false">
            <a:off x="6375400" y="4635500"/>
            <a:ext cx="495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针对优化问题的多解性与不确定性，实施双重标准化控制：一是固定随机种子，确保每次模拟结果的完全可复现；二是统一鲁棒优化评估口径，通过设定一致的波动区间与评价指标，对不同方案进行公平对比，让结果在不确定性中具备科学的参考价值和可验证性。</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52FF"/>
                </a:solidFill>
                <a:latin typeface="Noto Sans SC"/>
                <a:ea typeface="Noto Sans SC"/>
                <a:cs typeface="Noto Sans SC"/>
                <a:sym typeface="Noto Sans SC"/>
              </a:rPr>
              <a:t>结果文件与项目产出</a:t>
            </a:r>
            <a:endParaRPr lang="en-US" sz="1100"/>
          </a:p>
        </p:txBody>
      </p:sp>
      <p:sp>
        <p:nvSpPr>
          <p:cNvPr name="AutoShape 4" id="4"/>
          <p:cNvSpPr/>
          <p:nvPr/>
        </p:nvSpPr>
        <p:spPr>
          <a:xfrm rot="0" flipH="false" flipV="false">
            <a:off x="762000" y="1651000"/>
            <a:ext cx="3556000" cy="1841500"/>
          </a:xfrm>
          <a:prstGeom prst="roundRect">
            <a:avLst>
              <a:gd name="adj" fmla="val 0"/>
            </a:avLst>
          </a:prstGeom>
          <a:solidFill>
            <a:srgbClr val="FFFFFF">
              <a:alpha val="92000"/>
            </a:srgbClr>
          </a:solidFill>
          <a:ln w="12700" cmpd="sng" cap="flat">
            <a:solidFill>
              <a:srgbClr val="0052FF">
                <a:alpha val="18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35560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778000"/>
            <a:ext cx="330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result1_1 / result1_2.xlsx</a:t>
            </a:r>
            <a:endParaRPr lang="en-US" sz="1100"/>
          </a:p>
        </p:txBody>
      </p:sp>
      <p:sp>
        <p:nvSpPr>
          <p:cNvPr name="AutoShape 7" id="7"/>
          <p:cNvSpPr/>
          <p:nvPr/>
        </p:nvSpPr>
        <p:spPr>
          <a:xfrm rot="0" flipH="false" flipV="false">
            <a:off x="889000" y="2222500"/>
            <a:ext cx="330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问题一两种情形的最终种植方案。针对不同市场环境或资源约束条件，分别给出了短期与长期视角下的最优作物布局，包含具体的种植面积分配与预期收益测算。</a:t>
            </a:r>
            <a:endParaRPr lang="en-US" sz="1100"/>
          </a:p>
        </p:txBody>
      </p:sp>
      <p:sp>
        <p:nvSpPr>
          <p:cNvPr name="AutoShape 8" id="8"/>
          <p:cNvSpPr/>
          <p:nvPr/>
        </p:nvSpPr>
        <p:spPr>
          <a:xfrm rot="0" flipH="false" flipV="false">
            <a:off x="4508500" y="1651000"/>
            <a:ext cx="3556000" cy="1841500"/>
          </a:xfrm>
          <a:prstGeom prst="roundRect">
            <a:avLst>
              <a:gd name="adj" fmla="val 0"/>
            </a:avLst>
          </a:prstGeom>
          <a:solidFill>
            <a:srgbClr val="FFFFFF">
              <a:alpha val="92000"/>
            </a:srgbClr>
          </a:solidFill>
          <a:ln w="12700" cmpd="sng" cap="flat">
            <a:solidFill>
              <a:srgbClr val="0052FF">
                <a:alpha val="18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508500" y="1651000"/>
            <a:ext cx="35560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1778000"/>
            <a:ext cx="330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result2.xlsx</a:t>
            </a:r>
            <a:endParaRPr lang="en-US" sz="1100"/>
          </a:p>
        </p:txBody>
      </p:sp>
      <p:sp>
        <p:nvSpPr>
          <p:cNvPr name="AutoShape 11" id="11"/>
          <p:cNvSpPr/>
          <p:nvPr/>
        </p:nvSpPr>
        <p:spPr>
          <a:xfrm rot="0" flipH="false" flipV="false">
            <a:off x="4635500" y="2222500"/>
            <a:ext cx="330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问题二鲁棒优化后的种植方案。引入鲁棒性模型处理价格与产量的不确定性，在保证方案可行性的前提下，提供了抗风险能力更强的生产计划，为决策提供稳健依据。</a:t>
            </a:r>
            <a:endParaRPr lang="en-US" sz="1100"/>
          </a:p>
        </p:txBody>
      </p:sp>
      <p:sp>
        <p:nvSpPr>
          <p:cNvPr name="AutoShape 12" id="12"/>
          <p:cNvSpPr/>
          <p:nvPr/>
        </p:nvSpPr>
        <p:spPr>
          <a:xfrm rot="0" flipH="false" flipV="false">
            <a:off x="8255000" y="1651000"/>
            <a:ext cx="3556000" cy="1841500"/>
          </a:xfrm>
          <a:prstGeom prst="roundRect">
            <a:avLst>
              <a:gd name="adj" fmla="val 0"/>
            </a:avLst>
          </a:prstGeom>
          <a:solidFill>
            <a:srgbClr val="FFFFFF">
              <a:alpha val="92000"/>
            </a:srgbClr>
          </a:solidFill>
          <a:ln w="12700" cmpd="sng" cap="flat">
            <a:solidFill>
              <a:srgbClr val="0052FF">
                <a:alpha val="18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255000" y="1651000"/>
            <a:ext cx="3556000" cy="38100"/>
          </a:xfrm>
          <a:prstGeom prst="roundRect">
            <a:avLst>
              <a:gd name="adj" fmla="val 0"/>
            </a:avLst>
          </a:prstGeom>
          <a:solidFill>
            <a:srgbClr val="0052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82000" y="1778000"/>
            <a:ext cx="330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result3.xlsx</a:t>
            </a:r>
            <a:endParaRPr lang="en-US" sz="1100"/>
          </a:p>
        </p:txBody>
      </p:sp>
      <p:sp>
        <p:nvSpPr>
          <p:cNvPr name="AutoShape 15" id="15"/>
          <p:cNvSpPr/>
          <p:nvPr/>
        </p:nvSpPr>
        <p:spPr>
          <a:xfrm rot="0" flipH="false" flipV="false">
            <a:off x="8382000" y="2222500"/>
            <a:ext cx="330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问题三考虑相关性后的种植方案。通过量化作物间的互补或竞争关系，突破了独立假设的局限，得出全局最优解。该方案更贴合实际生产中的复杂市场与生态关联。</a:t>
            </a:r>
            <a:endParaRPr lang="en-US" sz="1100"/>
          </a:p>
        </p:txBody>
      </p:sp>
      <p:sp>
        <p:nvSpPr>
          <p:cNvPr name="AutoShape 16" id="16"/>
          <p:cNvSpPr/>
          <p:nvPr/>
        </p:nvSpPr>
        <p:spPr>
          <a:xfrm rot="0" flipH="false" flipV="false">
            <a:off x="762000" y="3683000"/>
            <a:ext cx="5334000" cy="1460500"/>
          </a:xfrm>
          <a:prstGeom prst="roundRect">
            <a:avLst>
              <a:gd name="adj" fmla="val 0"/>
            </a:avLst>
          </a:prstGeom>
          <a:solidFill>
            <a:srgbClr val="FFFFFF">
              <a:alpha val="92000"/>
            </a:srgbClr>
          </a:solidFill>
          <a:ln w="12700" cmpd="sng" cap="flat">
            <a:solidFill>
              <a:srgbClr val="0052FF">
                <a:alpha val="18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683000"/>
            <a:ext cx="5334000" cy="38100"/>
          </a:xfrm>
          <a:prstGeom prst="roundRect">
            <a:avLst>
              <a:gd name="adj" fmla="val 0"/>
            </a:avLst>
          </a:prstGeom>
          <a:solidFill>
            <a:srgbClr val="0052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89000" y="3810000"/>
            <a:ext cx="4953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problem*_summary.xlsx ｜ 核心指标全景汇总</a:t>
            </a:r>
            <a:endParaRPr lang="en-US" sz="1100"/>
          </a:p>
        </p:txBody>
      </p:sp>
      <p:sp>
        <p:nvSpPr>
          <p:cNvPr name="AutoShape 19" id="19"/>
          <p:cNvSpPr/>
          <p:nvPr/>
        </p:nvSpPr>
        <p:spPr>
          <a:xfrm rot="0" flipH="false" flipV="false">
            <a:off x="889000" y="4254500"/>
            <a:ext cx="4953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将各方案的最终收益、投入成本、资源消耗及种植面积等关键KPI进行结构化整合。提供横向对比维度，直观展示不同模型下方案的优劣差异，是快速理解模型结果的核心参考文件。</a:t>
            </a:r>
            <a:endParaRPr lang="en-US" sz="1100"/>
          </a:p>
        </p:txBody>
      </p:sp>
      <p:sp>
        <p:nvSpPr>
          <p:cNvPr name="AutoShape 20" id="20"/>
          <p:cNvSpPr/>
          <p:nvPr/>
        </p:nvSpPr>
        <p:spPr>
          <a:xfrm rot="0" flipH="false" flipV="false">
            <a:off x="6350000" y="3683000"/>
            <a:ext cx="5461000" cy="1460500"/>
          </a:xfrm>
          <a:prstGeom prst="roundRect">
            <a:avLst>
              <a:gd name="adj" fmla="val 0"/>
            </a:avLst>
          </a:prstGeom>
          <a:solidFill>
            <a:srgbClr val="FFFFFF">
              <a:alpha val="92000"/>
            </a:srgbClr>
          </a:solidFill>
          <a:ln w="12700" cmpd="sng" cap="flat">
            <a:solidFill>
              <a:srgbClr val="0052FF">
                <a:alpha val="18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350000" y="3683000"/>
            <a:ext cx="5461000" cy="38100"/>
          </a:xfrm>
          <a:prstGeom prst="roundRect">
            <a:avLst>
              <a:gd name="adj" fmla="val 0"/>
            </a:avLst>
          </a:prstGeom>
          <a:solidFill>
            <a:srgbClr val="0052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77000" y="3810000"/>
            <a:ext cx="508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52FF"/>
                </a:solidFill>
                <a:latin typeface="Noto Sans SC"/>
                <a:ea typeface="Noto Sans SC"/>
                <a:cs typeface="Noto Sans SC"/>
                <a:sym typeface="Noto Sans SC"/>
              </a:rPr>
              <a:t>solution_long.csv ｜ 全量决策变量明细</a:t>
            </a:r>
            <a:endParaRPr lang="en-US" sz="1100"/>
          </a:p>
        </p:txBody>
      </p:sp>
      <p:sp>
        <p:nvSpPr>
          <p:cNvPr name="AutoShape 23" id="23"/>
          <p:cNvSpPr/>
          <p:nvPr/>
        </p:nvSpPr>
        <p:spPr>
          <a:xfrm rot="0" flipH="false" flipV="false">
            <a:off x="6477000" y="4254500"/>
            <a:ext cx="508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包含模型求解后的所有底层数据与决策细节。数据格式适合导入 Python、R 或 Tableau 等工具，支持后续的深度敏感性分析、可视化图表制作以及对特定策略的微观复盘。</a:t>
            </a:r>
            <a:endParaRPr lang="en-US" sz="1100"/>
          </a:p>
        </p:txBody>
      </p:sp>
      <p:sp>
        <p:nvSpPr>
          <p:cNvPr name="AutoShape 24" id="24"/>
          <p:cNvSpPr/>
          <p:nvPr/>
        </p:nvSpPr>
        <p:spPr>
          <a:xfrm rot="0" flipH="false" flipV="false">
            <a:off x="762000" y="5334000"/>
            <a:ext cx="3556000" cy="1206500"/>
          </a:xfrm>
          <a:prstGeom prst="roundRect">
            <a:avLst>
              <a:gd name="adj" fmla="val 0"/>
            </a:avLst>
          </a:prstGeom>
          <a:solidFill>
            <a:srgbClr val="0052FF">
              <a:alpha val="9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89000" y="5397500"/>
            <a:ext cx="3302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3CC8"/>
                </a:solidFill>
                <a:latin typeface="Noto Sans SC"/>
                <a:ea typeface="Noto Sans SC"/>
                <a:cs typeface="Noto Sans SC"/>
                <a:sym typeface="Noto Sans SC"/>
              </a:rPr>
              <a:t>直接提交：标准化答案成果</a:t>
            </a:r>
            <a:endParaRPr lang="en-US" sz="1100"/>
          </a:p>
        </p:txBody>
      </p:sp>
      <p:sp>
        <p:nvSpPr>
          <p:cNvPr name="AutoShape 26" id="26"/>
          <p:cNvSpPr/>
          <p:nvPr/>
        </p:nvSpPr>
        <p:spPr>
          <a:xfrm rot="0" flipH="false" flipV="false">
            <a:off x="889000" y="5740400"/>
            <a:ext cx="330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1E3250">
                    <a:alpha val="90196"/>
                  </a:srgbClr>
                </a:solidFill>
                <a:latin typeface="Noto Sans SC"/>
                <a:ea typeface="Noto Sans SC"/>
                <a:cs typeface="Noto Sans SC"/>
                <a:sym typeface="Noto Sans SC"/>
              </a:rPr>
              <a:t>result 系列 Excel 文件是问题的最终答案，结构清晰，可直接作为解决方案提交，满足结题验收标准。</a:t>
            </a:r>
            <a:endParaRPr lang="en-US" sz="1100"/>
          </a:p>
        </p:txBody>
      </p:sp>
      <p:sp>
        <p:nvSpPr>
          <p:cNvPr name="AutoShape 27" id="27"/>
          <p:cNvSpPr/>
          <p:nvPr/>
        </p:nvSpPr>
        <p:spPr>
          <a:xfrm rot="0" flipH="false" flipV="false">
            <a:off x="4508500" y="5334000"/>
            <a:ext cx="3556000" cy="1206500"/>
          </a:xfrm>
          <a:prstGeom prst="roundRect">
            <a:avLst>
              <a:gd name="adj" fmla="val 0"/>
            </a:avLst>
          </a:prstGeom>
          <a:solidFill>
            <a:srgbClr val="0052FF">
              <a:alpha val="9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4635500" y="5397500"/>
            <a:ext cx="3302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3CC8"/>
                </a:solidFill>
                <a:latin typeface="Noto Sans SC"/>
                <a:ea typeface="Noto Sans SC"/>
                <a:cs typeface="Noto Sans SC"/>
                <a:sym typeface="Noto Sans SC"/>
              </a:rPr>
              <a:t>深度挖掘：科研级数据支持</a:t>
            </a:r>
            <a:endParaRPr lang="en-US" sz="1100"/>
          </a:p>
        </p:txBody>
      </p:sp>
      <p:sp>
        <p:nvSpPr>
          <p:cNvPr name="AutoShape 29" id="29"/>
          <p:cNvSpPr/>
          <p:nvPr/>
        </p:nvSpPr>
        <p:spPr>
          <a:xfrm rot="0" flipH="false" flipV="false">
            <a:off x="4635500" y="5740400"/>
            <a:ext cx="330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1E3250">
                    <a:alpha val="90196"/>
                  </a:srgbClr>
                </a:solidFill>
                <a:latin typeface="Noto Sans SC"/>
                <a:ea typeface="Noto Sans SC"/>
                <a:cs typeface="Noto Sans SC"/>
                <a:sym typeface="Noto Sans SC"/>
              </a:rPr>
              <a:t>CSV 明细与汇总表提供全维度数据，便于开展数据清洗、假设检验与策略推演，支撑学术研究的深度分析。</a:t>
            </a:r>
            <a:endParaRPr lang="en-US" sz="1100"/>
          </a:p>
        </p:txBody>
      </p:sp>
      <p:sp>
        <p:nvSpPr>
          <p:cNvPr name="AutoShape 30" id="30"/>
          <p:cNvSpPr/>
          <p:nvPr/>
        </p:nvSpPr>
        <p:spPr>
          <a:xfrm rot="0" flipH="false" flipV="false">
            <a:off x="8255000" y="5334000"/>
            <a:ext cx="3556000" cy="1206500"/>
          </a:xfrm>
          <a:prstGeom prst="roundRect">
            <a:avLst>
              <a:gd name="adj" fmla="val 0"/>
            </a:avLst>
          </a:prstGeom>
          <a:solidFill>
            <a:srgbClr val="0052FF">
              <a:alpha val="9000"/>
            </a:srgbClr>
          </a:solidFill>
          <a:ln w="12700" cmpd="sng" cap="flat">
            <a:solidFill>
              <a:srgbClr val="0052FF">
                <a:alpha val="25000"/>
              </a:srgbClr>
            </a:solid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8382000" y="5397500"/>
            <a:ext cx="3302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3CC8"/>
                </a:solidFill>
                <a:latin typeface="Noto Sans SC"/>
                <a:ea typeface="Noto Sans SC"/>
                <a:cs typeface="Noto Sans SC"/>
                <a:sym typeface="Noto Sans SC"/>
              </a:rPr>
              <a:t>论文撰写：结论依据基石</a:t>
            </a:r>
            <a:endParaRPr lang="en-US" sz="1100"/>
          </a:p>
        </p:txBody>
      </p:sp>
      <p:sp>
        <p:nvSpPr>
          <p:cNvPr name="AutoShape 32" id="32"/>
          <p:cNvSpPr/>
          <p:nvPr/>
        </p:nvSpPr>
        <p:spPr>
          <a:xfrm rot="0" flipH="false" flipV="false">
            <a:off x="8382000" y="5740400"/>
            <a:ext cx="330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100">
                <a:solidFill>
                  <a:srgbClr val="1E3250">
                    <a:alpha val="90196"/>
                  </a:srgbClr>
                </a:solidFill>
                <a:latin typeface="Noto Sans SC"/>
                <a:ea typeface="Noto Sans SC"/>
                <a:cs typeface="Noto Sans SC"/>
                <a:sym typeface="Noto Sans SC"/>
              </a:rPr>
              <a:t>汇总文件提炼了方案的核心经济指标与成效，是撰写建模论文、分析方案经济效益与社会效益的关键实证材料。</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A1E">
              <a:alpha val="5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381000" y="2286000"/>
            <a:ext cx="11430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FFFFFF"/>
                </a:solidFill>
                <a:latin typeface="Noto Sans SC"/>
                <a:ea typeface="Noto Sans SC"/>
                <a:cs typeface="Noto Sans SC"/>
                <a:sym typeface="Noto Sans SC"/>
              </a:rPr>
              <a:t>总结与展望</a:t>
            </a:r>
            <a:endParaRPr lang="en-US" sz="1100"/>
          </a:p>
        </p:txBody>
      </p:sp>
      <p:sp>
        <p:nvSpPr>
          <p:cNvPr name="AutoShape 4" id="4"/>
          <p:cNvSpPr/>
          <p:nvPr/>
        </p:nvSpPr>
        <p:spPr>
          <a:xfrm rot="0" flipH="false" flipV="false">
            <a:off x="635000" y="3302000"/>
            <a:ext cx="5270500" cy="2286000"/>
          </a:xfrm>
          <a:prstGeom prst="roundRect">
            <a:avLst>
              <a:gd name="adj" fmla="val 0"/>
            </a:avLst>
          </a:prstGeom>
          <a:solidFill>
            <a:srgbClr val="0F1E46">
              <a:alpha val="82000"/>
            </a:srgbClr>
          </a:solidFill>
          <a:ln w="12700" cmpd="sng" cap="flat">
            <a:solidFill>
              <a:srgbClr val="0052FF">
                <a:alpha val="55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25500" y="3403600"/>
            <a:ext cx="4889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B4FF"/>
                </a:solidFill>
                <a:latin typeface="Noto Sans SC"/>
                <a:ea typeface="Noto Sans SC"/>
                <a:cs typeface="Noto Sans SC"/>
                <a:sym typeface="Noto Sans SC"/>
              </a:rPr>
              <a:t>项目总结：全流程建模与决策落地</a:t>
            </a:r>
            <a:endParaRPr lang="en-US" sz="1100"/>
          </a:p>
        </p:txBody>
      </p:sp>
      <p:cxnSp>
        <p:nvCxnSpPr>
          <p:cNvPr name="Connector 6" id="6"/>
          <p:cNvCxnSpPr/>
          <p:nvPr/>
        </p:nvCxnSpPr>
        <p:spPr>
          <a:xfrm rot="-9046" flipH="false" flipV="false">
            <a:off x="825508" y="3930650"/>
            <a:ext cx="4826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7" id="7"/>
          <p:cNvSpPr/>
          <p:nvPr/>
        </p:nvSpPr>
        <p:spPr>
          <a:xfrm rot="0" flipH="false" flipV="false">
            <a:off x="825500" y="40005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项目成功打通从原始数据清洗、MILP核心建模到不确定性鲁棒优化的全链路，并实现了决策结果的自动化Excel落地，构建了科学的农业种植决策模型。</a:t>
            </a:r>
            <a:endParaRPr lang="en-US" sz="1100"/>
          </a:p>
        </p:txBody>
      </p:sp>
      <p:sp>
        <p:nvSpPr>
          <p:cNvPr name="AutoShape 8" id="8"/>
          <p:cNvSpPr/>
          <p:nvPr/>
        </p:nvSpPr>
        <p:spPr>
          <a:xfrm rot="0" flipH="false" flipV="false">
            <a:off x="825500" y="4851400"/>
            <a:ext cx="1524000" cy="609600"/>
          </a:xfrm>
          <a:prstGeom prst="roundRect">
            <a:avLst>
              <a:gd name="adj" fmla="val 0"/>
            </a:avLst>
          </a:prstGeom>
          <a:solidFill>
            <a:srgbClr val="0052FF">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25500" y="4851400"/>
            <a:ext cx="1524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7DCEFF"/>
                </a:solidFill>
                <a:latin typeface="Noto Sans SC"/>
                <a:ea typeface="Noto Sans SC"/>
                <a:cs typeface="Noto Sans SC"/>
                <a:sym typeface="Noto Sans SC"/>
              </a:rPr>
              <a:t>确定性最优解</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C8D7F0"/>
                </a:solidFill>
                <a:latin typeface="Noto Sans SC"/>
                <a:ea typeface="Noto Sans SC"/>
                <a:cs typeface="Noto Sans SC"/>
                <a:sym typeface="Noto Sans SC"/>
              </a:rPr>
              <a:t>基础方案精准构建</a:t>
            </a:r>
            <a:endParaRPr lang="en-US" sz="1100"/>
          </a:p>
        </p:txBody>
      </p:sp>
      <p:sp>
        <p:nvSpPr>
          <p:cNvPr name="AutoShape 10" id="10"/>
          <p:cNvSpPr/>
          <p:nvPr/>
        </p:nvSpPr>
        <p:spPr>
          <a:xfrm rot="0" flipH="false" flipV="false">
            <a:off x="2476500" y="4851400"/>
            <a:ext cx="1524000" cy="609600"/>
          </a:xfrm>
          <a:prstGeom prst="roundRect">
            <a:avLst>
              <a:gd name="adj" fmla="val 0"/>
            </a:avLst>
          </a:prstGeom>
          <a:solidFill>
            <a:srgbClr val="0052FF">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2476500" y="4851400"/>
            <a:ext cx="1524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7DCEFF"/>
                </a:solidFill>
                <a:latin typeface="Noto Sans SC"/>
                <a:ea typeface="Noto Sans SC"/>
                <a:cs typeface="Noto Sans SC"/>
                <a:sym typeface="Noto Sans SC"/>
              </a:rPr>
              <a:t>不确定性模拟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C8D7F0"/>
                </a:solidFill>
                <a:latin typeface="Noto Sans SC"/>
                <a:ea typeface="Noto Sans SC"/>
                <a:cs typeface="Noto Sans SC"/>
                <a:sym typeface="Noto Sans SC"/>
              </a:rPr>
              <a:t>抗风险稳健策略</a:t>
            </a:r>
            <a:endParaRPr lang="en-US" sz="1100"/>
          </a:p>
        </p:txBody>
      </p:sp>
      <p:sp>
        <p:nvSpPr>
          <p:cNvPr name="AutoShape 12" id="12"/>
          <p:cNvSpPr/>
          <p:nvPr/>
        </p:nvSpPr>
        <p:spPr>
          <a:xfrm rot="0" flipH="false" flipV="false">
            <a:off x="4127500" y="4851400"/>
            <a:ext cx="1524000" cy="609600"/>
          </a:xfrm>
          <a:prstGeom prst="roundRect">
            <a:avLst>
              <a:gd name="adj" fmla="val 0"/>
            </a:avLst>
          </a:prstGeom>
          <a:solidFill>
            <a:srgbClr val="0052FF">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127500" y="4851400"/>
            <a:ext cx="1524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7DCEFF"/>
                </a:solidFill>
                <a:latin typeface="Noto Sans SC"/>
                <a:ea typeface="Noto Sans SC"/>
                <a:cs typeface="Noto Sans SC"/>
                <a:sym typeface="Noto Sans SC"/>
              </a:rPr>
              <a:t>相关性优化</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C8D7F0"/>
                </a:solidFill>
                <a:latin typeface="Noto Sans SC"/>
                <a:ea typeface="Noto Sans SC"/>
                <a:cs typeface="Noto Sans SC"/>
                <a:sym typeface="Noto Sans SC"/>
              </a:rPr>
              <a:t>贴合真实生产逻辑</a:t>
            </a:r>
            <a:endParaRPr lang="en-US" sz="1100"/>
          </a:p>
        </p:txBody>
      </p:sp>
      <p:sp>
        <p:nvSpPr>
          <p:cNvPr name="AutoShape 14" id="14"/>
          <p:cNvSpPr/>
          <p:nvPr/>
        </p:nvSpPr>
        <p:spPr>
          <a:xfrm rot="0" flipH="false" flipV="false">
            <a:off x="6159500" y="3302000"/>
            <a:ext cx="5270500" cy="2286000"/>
          </a:xfrm>
          <a:prstGeom prst="roundRect">
            <a:avLst>
              <a:gd name="adj" fmla="val 0"/>
            </a:avLst>
          </a:prstGeom>
          <a:solidFill>
            <a:srgbClr val="0F1E46">
              <a:alpha val="82000"/>
            </a:srgbClr>
          </a:solidFill>
          <a:ln w="12700" cmpd="sng" cap="flat">
            <a:solidFill>
              <a:srgbClr val="0052FF">
                <a:alpha val="5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0" y="3403600"/>
            <a:ext cx="4889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B4FF"/>
                </a:solidFill>
                <a:latin typeface="Noto Sans SC"/>
                <a:ea typeface="Noto Sans SC"/>
                <a:cs typeface="Noto Sans SC"/>
                <a:sym typeface="Noto Sans SC"/>
              </a:rPr>
              <a:t>未来展望：智能化与场景深度融合</a:t>
            </a:r>
            <a:endParaRPr lang="en-US" sz="1100"/>
          </a:p>
        </p:txBody>
      </p:sp>
      <p:cxnSp>
        <p:nvCxnSpPr>
          <p:cNvPr name="Connector 16" id="16"/>
          <p:cNvCxnSpPr/>
          <p:nvPr/>
        </p:nvCxnSpPr>
        <p:spPr>
          <a:xfrm rot="-9046" flipH="false" flipV="false">
            <a:off x="6350008" y="3930650"/>
            <a:ext cx="4826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17" id="17"/>
          <p:cNvSpPr/>
          <p:nvPr/>
        </p:nvSpPr>
        <p:spPr>
          <a:xfrm rot="0" flipH="false" flipV="false">
            <a:off x="6350000" y="40005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下一步将持续迭代系统能力，从单一模型向“数据+算法+交互”的综合决策平台演进，进一步释放数据价值，为实际生产提供更具前瞻性的智慧支持。</a:t>
            </a:r>
            <a:endParaRPr lang="en-US" sz="1100"/>
          </a:p>
        </p:txBody>
      </p:sp>
      <p:sp>
        <p:nvSpPr>
          <p:cNvPr name="AutoShape 18" id="18"/>
          <p:cNvSpPr/>
          <p:nvPr/>
        </p:nvSpPr>
        <p:spPr>
          <a:xfrm rot="0" flipH="false" flipV="false">
            <a:off x="6350000" y="4851400"/>
            <a:ext cx="1524000" cy="609600"/>
          </a:xfrm>
          <a:prstGeom prst="roundRect">
            <a:avLst>
              <a:gd name="adj" fmla="val 0"/>
            </a:avLst>
          </a:prstGeom>
          <a:solidFill>
            <a:srgbClr val="10B981">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350000" y="4851400"/>
            <a:ext cx="1524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6EE7B7"/>
                </a:solidFill>
                <a:latin typeface="Noto Sans SC"/>
                <a:ea typeface="Noto Sans SC"/>
                <a:cs typeface="Noto Sans SC"/>
                <a:sym typeface="Noto Sans SC"/>
              </a:rPr>
              <a:t>多维数据接入</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C8D7F0"/>
                </a:solidFill>
                <a:latin typeface="Noto Sans SC"/>
                <a:ea typeface="Noto Sans SC"/>
                <a:cs typeface="Noto Sans SC"/>
                <a:sym typeface="Noto Sans SC"/>
              </a:rPr>
              <a:t>气候与市场动态融合</a:t>
            </a:r>
            <a:endParaRPr lang="en-US" sz="1100"/>
          </a:p>
        </p:txBody>
      </p:sp>
      <p:sp>
        <p:nvSpPr>
          <p:cNvPr name="AutoShape 20" id="20"/>
          <p:cNvSpPr/>
          <p:nvPr/>
        </p:nvSpPr>
        <p:spPr>
          <a:xfrm rot="0" flipH="false" flipV="false">
            <a:off x="7937500" y="4851400"/>
            <a:ext cx="1524000" cy="609600"/>
          </a:xfrm>
          <a:prstGeom prst="roundRect">
            <a:avLst>
              <a:gd name="adj" fmla="val 0"/>
            </a:avLst>
          </a:prstGeom>
          <a:solidFill>
            <a:srgbClr val="10B981">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937500" y="4851400"/>
            <a:ext cx="1524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6EE7B7"/>
                </a:solidFill>
                <a:latin typeface="Noto Sans SC"/>
                <a:ea typeface="Noto Sans SC"/>
                <a:cs typeface="Noto Sans SC"/>
                <a:sym typeface="Noto Sans SC"/>
              </a:rPr>
              <a:t>算法性能升级</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C8D7F0"/>
                </a:solidFill>
                <a:latin typeface="Noto Sans SC"/>
                <a:ea typeface="Noto Sans SC"/>
                <a:cs typeface="Noto Sans SC"/>
                <a:sym typeface="Noto Sans SC"/>
              </a:rPr>
              <a:t>毫秒级复杂求解</a:t>
            </a:r>
            <a:endParaRPr lang="en-US" sz="1100"/>
          </a:p>
        </p:txBody>
      </p:sp>
      <p:sp>
        <p:nvSpPr>
          <p:cNvPr name="AutoShape 22" id="22"/>
          <p:cNvSpPr/>
          <p:nvPr/>
        </p:nvSpPr>
        <p:spPr>
          <a:xfrm rot="0" flipH="false" flipV="false">
            <a:off x="9588500" y="4851400"/>
            <a:ext cx="1524000" cy="609600"/>
          </a:xfrm>
          <a:prstGeom prst="roundRect">
            <a:avLst>
              <a:gd name="adj" fmla="val 0"/>
            </a:avLst>
          </a:prstGeom>
          <a:solidFill>
            <a:srgbClr val="10B981">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588500" y="4851400"/>
            <a:ext cx="1524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6EE7B7"/>
                </a:solidFill>
                <a:latin typeface="Noto Sans SC"/>
                <a:ea typeface="Noto Sans SC"/>
                <a:cs typeface="Noto Sans SC"/>
                <a:sym typeface="Noto Sans SC"/>
              </a:rPr>
              <a:t>可视交互系统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000">
                <a:solidFill>
                  <a:srgbClr val="C8D7F0"/>
                </a:solidFill>
                <a:latin typeface="Noto Sans SC"/>
                <a:ea typeface="Noto Sans SC"/>
                <a:cs typeface="Noto Sans SC"/>
                <a:sym typeface="Noto Sans SC"/>
              </a:rPr>
              <a:t>所见即所得的决策</a:t>
            </a:r>
            <a:endParaRPr lang="en-US" sz="1100"/>
          </a:p>
        </p:txBody>
      </p:sp>
      <p:sp>
        <p:nvSpPr>
          <p:cNvPr name="AutoShape 24" id="24"/>
          <p:cNvSpPr/>
          <p:nvPr/>
        </p:nvSpPr>
        <p:spPr>
          <a:xfrm rot="0" flipH="false" flipV="false">
            <a:off x="0" y="5778500"/>
            <a:ext cx="12192000" cy="825500"/>
          </a:xfrm>
          <a:prstGeom prst="roundRect">
            <a:avLst>
              <a:gd name="adj" fmla="val 0"/>
            </a:avLst>
          </a:prstGeom>
          <a:solidFill>
            <a:srgbClr val="000000">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0" y="57785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FFFFFF"/>
                </a:solidFill>
                <a:latin typeface="Noto Sans SC"/>
                <a:ea typeface="Noto Sans SC"/>
                <a:cs typeface="Noto Sans SC"/>
                <a:sym typeface="Noto Sans SC"/>
              </a:rPr>
              <a:t>感谢聆听！</a:t>
            </a:r>
            <a:endParaRPr lang="en-US" sz="1100"/>
          </a:p>
        </p:txBody>
      </p:sp>
      <p:pic>
        <p:nvPicPr>
          <p:cNvPr name="Picture 26" id="2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{"Label":"1","ContentProducer":"001191110102MACQD9K64010000","ProduceID":"7644572850440211415","ReservedCode1":"","ContentPropagator":"","PropagateID":"","ReservedCode2":""}</vt:lpwstr>
  </property>
</Properties>
</file>